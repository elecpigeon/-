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70" r:id="rId12"/>
    <p:sldId id="271" r:id="rId13"/>
    <p:sldId id="272" r:id="rId14"/>
    <p:sldId id="273" r:id="rId15"/>
    <p:sldId id="265" r:id="rId16"/>
    <p:sldId id="266" r:id="rId17"/>
    <p:sldId id="267" r:id="rId18"/>
    <p:sldId id="269"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051" autoAdjust="0"/>
  </p:normalViewPr>
  <p:slideViewPr>
    <p:cSldViewPr snapToGrid="0">
      <p:cViewPr varScale="1">
        <p:scale>
          <a:sx n="59" d="100"/>
          <a:sy n="59" d="100"/>
        </p:scale>
        <p:origin x="92" y="5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介绍一个关于金融科技的项目——“上市公司中标公告关键信息抽取与项目台账生成”。这个项目旨在通过自动化手段，从海量的非结构化公告中提取关键信息，为量化分析公司经营质量提供数据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本次汇报将围绕以下十个方面展开：首先介绍项目题目与金融问题，接着说明巨潮数据来源，然后阐述难度档位、字段与Schema设计。之后，讲解PDF解析与Section检查、Workflow搭建，再展示Demo和评估结果。最后，分享优化过程与Vibe </a:t>
            </a:r>
            <a:r>
              <a:rPr lang="en-US" sz="1400" b="0" i="0" u="none" strike="noStrike" dirty="0" err="1">
                <a:solidFill>
                  <a:srgbClr val="000000"/>
                </a:solidFill>
              </a:rPr>
              <a:t>Coding反思</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首先，我们进入第一部分：项目概述。在这一部分，我将介绍项目的背景、我们试图解决的金融问题，以及项目的核心目标</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我们的研究对象是上市公司发布的中标公告。这些公告是重要的非结构化数据，蕴含着关于公司新增订单、收入预期和潜在风险的关键信息。我们的核心目标，就是将这些信息结构化，从而能够对公司的经营状况进行更精准的量化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这一目标，我们设计了三个具体任务：首先，精准抽取项目名称、招标人等核心信息；其次，将这些信息整合成一个可追溯、可比较的台账；最后，也是最关键的，我们要求每一条数据都必须附带证据，链接回原始PDF，确保数据的可信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接下来是第二部分，数据获取与准备。在这里，我将介绍我们的数据来源、访问策略以及最终获取的数据样本规模</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我们的数据来源于巨潮资讯网。我们严格遵守网站的访问规则，通过公开接口，并使用一系列精准的关键词进行检索，以获取高质量的中标公告样本。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在2024年到2026年的时间范围内，我们成功抓取了80条公告的元数据和对应的PDF原文，这满足了课程标准档1.0的要求。在本次答辩中，我们将以ST交投的一份公告为例，展示完整的处理流程。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 Demo Script</a:t>
            </a:r>
          </a:p>
          <a:p>
            <a:pPr indent="0" algn="l">
              <a:lnSpc>
                <a:spcPct val="100000"/>
              </a:lnSpc>
            </a:pPr>
            <a:endParaRPr lang="en-US" sz="1400" b="0" i="0" u="none" strike="noStrike" dirty="0">
              <a:solidFill>
                <a:srgbClr val="000000"/>
              </a:solidFill>
            </a:endParaRPr>
          </a:p>
          <a:p>
            <a:pPr indent="0" algn="l">
              <a:lnSpc>
                <a:spcPct val="100000"/>
              </a:lnSpc>
            </a:pPr>
            <a:r>
              <a:rPr lang="en-US" sz="1400" b="0" i="0" u="none" strike="noStrike" dirty="0">
                <a:solidFill>
                  <a:srgbClr val="000000"/>
                </a:solidFill>
              </a:rPr>
              <a:t>## 1. </a:t>
            </a:r>
            <a:r>
              <a:rPr lang="zh-CN" altLang="en-US" sz="1400" b="0" i="0" u="none" strike="noStrike" dirty="0">
                <a:solidFill>
                  <a:srgbClr val="000000"/>
                </a:solidFill>
              </a:rPr>
              <a:t>项目介绍</a:t>
            </a:r>
          </a:p>
          <a:p>
            <a:pPr indent="0" algn="l">
              <a:lnSpc>
                <a:spcPct val="100000"/>
              </a:lnSpc>
            </a:pPr>
            <a:endParaRPr lang="zh-CN" altLang="en-US" sz="1400" b="0" i="0" u="none" strike="noStrike" dirty="0">
              <a:solidFill>
                <a:srgbClr val="000000"/>
              </a:solidFill>
            </a:endParaRPr>
          </a:p>
          <a:p>
            <a:pPr indent="0" algn="l">
              <a:lnSpc>
                <a:spcPct val="100000"/>
              </a:lnSpc>
            </a:pPr>
            <a:r>
              <a:rPr lang="zh-CN" altLang="en-US" sz="1400" b="0" i="0" u="none" strike="noStrike" dirty="0">
                <a:solidFill>
                  <a:srgbClr val="000000"/>
                </a:solidFill>
              </a:rPr>
              <a:t>我们的项目题目是“上市公司中标公告关键信息抽取与项目台账生成”。目标是从巨潮中标相关公告中抽取项目名称、招标人、中标阶段、金额原文和风险提示，形成可以追溯到原公告的结构化结果。</a:t>
            </a:r>
          </a:p>
          <a:p>
            <a:pPr indent="0" algn="l">
              <a:lnSpc>
                <a:spcPct val="100000"/>
              </a:lnSpc>
            </a:pPr>
            <a:endParaRPr lang="zh-CN" altLang="en-US" sz="1400" b="0" i="0" u="none" strike="noStrike" dirty="0">
              <a:solidFill>
                <a:srgbClr val="000000"/>
              </a:solidFill>
            </a:endParaRPr>
          </a:p>
          <a:p>
            <a:pPr indent="0" algn="l">
              <a:lnSpc>
                <a:spcPct val="100000"/>
              </a:lnSpc>
            </a:pPr>
            <a:r>
              <a:rPr lang="en-US" altLang="zh-CN" sz="1400" b="0" i="0" u="none" strike="noStrike" dirty="0">
                <a:solidFill>
                  <a:srgbClr val="000000"/>
                </a:solidFill>
              </a:rPr>
              <a:t>## 2. </a:t>
            </a:r>
            <a:r>
              <a:rPr lang="zh-CN" altLang="en-US" sz="1400" b="0" i="0" u="none" strike="noStrike" dirty="0">
                <a:solidFill>
                  <a:srgbClr val="000000"/>
                </a:solidFill>
              </a:rPr>
              <a:t>数据来源</a:t>
            </a:r>
          </a:p>
          <a:p>
            <a:pPr indent="0" algn="l">
              <a:lnSpc>
                <a:spcPct val="100000"/>
              </a:lnSpc>
            </a:pPr>
            <a:endParaRPr lang="zh-CN" altLang="en-US" sz="1400" b="0" i="0" u="none" strike="noStrike" dirty="0">
              <a:solidFill>
                <a:srgbClr val="000000"/>
              </a:solidFill>
            </a:endParaRPr>
          </a:p>
          <a:p>
            <a:pPr indent="0" algn="l">
              <a:lnSpc>
                <a:spcPct val="100000"/>
              </a:lnSpc>
            </a:pPr>
            <a:r>
              <a:rPr lang="zh-CN" altLang="en-US" sz="1400" b="0" i="0" u="none" strike="noStrike" dirty="0">
                <a:solidFill>
                  <a:srgbClr val="000000"/>
                </a:solidFill>
              </a:rPr>
              <a:t>数据全部来自巨潮资讯网公开公告。我们用“中标”“中标通知书”“重大经营合同中标”等关键词筛选样本，并在 </a:t>
            </a:r>
            <a:r>
              <a:rPr lang="en-US" altLang="zh-CN" sz="1400" b="0" i="0" u="none" strike="noStrike" dirty="0">
                <a:solidFill>
                  <a:srgbClr val="000000"/>
                </a:solidFill>
              </a:rPr>
              <a:t>`</a:t>
            </a:r>
            <a:r>
              <a:rPr lang="en-US" sz="1400" b="0" i="0" u="none" strike="noStrike" dirty="0">
                <a:solidFill>
                  <a:srgbClr val="000000"/>
                </a:solidFill>
              </a:rPr>
              <a:t>metadata.csv` </a:t>
            </a:r>
            <a:r>
              <a:rPr lang="zh-CN" altLang="en-US" sz="1400" b="0" i="0" u="none" strike="noStrike" dirty="0">
                <a:solidFill>
                  <a:srgbClr val="000000"/>
                </a:solidFill>
              </a:rPr>
              <a:t>中记录标题、日期、</a:t>
            </a:r>
            <a:r>
              <a:rPr lang="en-US" sz="1400" b="0" i="0" u="none" strike="noStrike" dirty="0">
                <a:solidFill>
                  <a:srgbClr val="000000"/>
                </a:solidFill>
              </a:rPr>
              <a:t>URL、PDF </a:t>
            </a:r>
            <a:r>
              <a:rPr lang="zh-CN" altLang="en-US" sz="1400" b="0" i="0" u="none" strike="noStrike" dirty="0">
                <a:solidFill>
                  <a:srgbClr val="000000"/>
                </a:solidFill>
              </a:rPr>
              <a:t>路径和下载状态。</a:t>
            </a:r>
          </a:p>
          <a:p>
            <a:pPr indent="0" algn="l">
              <a:lnSpc>
                <a:spcPct val="100000"/>
              </a:lnSpc>
            </a:pPr>
            <a:endParaRPr lang="zh-CN" altLang="en-US" sz="1400" b="0" i="0" u="none" strike="noStrike" dirty="0">
              <a:solidFill>
                <a:srgbClr val="000000"/>
              </a:solidFill>
            </a:endParaRPr>
          </a:p>
          <a:p>
            <a:pPr indent="0" algn="l">
              <a:lnSpc>
                <a:spcPct val="100000"/>
              </a:lnSpc>
            </a:pPr>
            <a:r>
              <a:rPr lang="en-US" altLang="zh-CN" sz="1400" b="0" i="0" u="none" strike="noStrike" dirty="0">
                <a:solidFill>
                  <a:srgbClr val="000000"/>
                </a:solidFill>
              </a:rPr>
              <a:t>## 3. </a:t>
            </a:r>
            <a:r>
              <a:rPr lang="zh-CN" altLang="en-US" sz="1400" b="0" i="0" u="none" strike="noStrike" dirty="0">
                <a:solidFill>
                  <a:srgbClr val="000000"/>
                </a:solidFill>
              </a:rPr>
              <a:t>证据链展示</a:t>
            </a:r>
          </a:p>
          <a:p>
            <a:pPr indent="0" algn="l">
              <a:lnSpc>
                <a:spcPct val="100000"/>
              </a:lnSpc>
            </a:pPr>
            <a:endParaRPr lang="zh-CN" altLang="en-US" sz="1400" b="0" i="0" u="none" strike="noStrike" dirty="0">
              <a:solidFill>
                <a:srgbClr val="000000"/>
              </a:solidFill>
            </a:endParaRPr>
          </a:p>
          <a:p>
            <a:pPr indent="0" algn="l">
              <a:lnSpc>
                <a:spcPct val="100000"/>
              </a:lnSpc>
            </a:pPr>
            <a:r>
              <a:rPr lang="zh-CN" altLang="en-US" sz="1400" b="0" i="0" u="none" strike="noStrike" dirty="0">
                <a:solidFill>
                  <a:srgbClr val="000000"/>
                </a:solidFill>
              </a:rPr>
              <a:t>按下面顺序展示 </a:t>
            </a:r>
            <a:r>
              <a:rPr lang="en-US" altLang="zh-CN" sz="1400" b="0" i="0" u="none" strike="noStrike" dirty="0">
                <a:solidFill>
                  <a:srgbClr val="000000"/>
                </a:solidFill>
              </a:rPr>
              <a:t>1 </a:t>
            </a:r>
            <a:r>
              <a:rPr lang="zh-CN" altLang="en-US" sz="1400" b="0" i="0" u="none" strike="noStrike" dirty="0">
                <a:solidFill>
                  <a:srgbClr val="000000"/>
                </a:solidFill>
              </a:rPr>
              <a:t>条样例：</a:t>
            </a:r>
          </a:p>
          <a:p>
            <a:pPr indent="0" algn="l">
              <a:lnSpc>
                <a:spcPct val="100000"/>
              </a:lnSpc>
            </a:pPr>
            <a:endParaRPr lang="zh-CN" altLang="en-US" sz="1400" b="0" i="0" u="none" strike="noStrike" dirty="0">
              <a:solidFill>
                <a:srgbClr val="000000"/>
              </a:solidFill>
            </a:endParaRPr>
          </a:p>
          <a:p>
            <a:pPr indent="0" algn="l">
              <a:lnSpc>
                <a:spcPct val="100000"/>
              </a:lnSpc>
            </a:pPr>
            <a:r>
              <a:rPr lang="en-US" altLang="zh-CN" sz="1400" b="0" i="0" u="none" strike="noStrike" dirty="0">
                <a:solidFill>
                  <a:srgbClr val="000000"/>
                </a:solidFill>
              </a:rPr>
              <a:t>1. </a:t>
            </a:r>
            <a:r>
              <a:rPr lang="zh-CN" altLang="en-US" sz="1400" b="0" i="0" u="none" strike="noStrike" dirty="0">
                <a:solidFill>
                  <a:srgbClr val="000000"/>
                </a:solidFill>
              </a:rPr>
              <a:t>打开原始 </a:t>
            </a:r>
            <a:r>
              <a:rPr lang="en-US" sz="1400" b="0" i="0" u="none" strike="noStrike" dirty="0">
                <a:solidFill>
                  <a:srgbClr val="000000"/>
                </a:solidFill>
              </a:rPr>
              <a:t>PDF </a:t>
            </a:r>
            <a:r>
              <a:rPr lang="zh-CN" altLang="en-US" sz="1400" b="0" i="0" u="none" strike="noStrike" dirty="0">
                <a:solidFill>
                  <a:srgbClr val="000000"/>
                </a:solidFill>
              </a:rPr>
              <a:t>对应的 </a:t>
            </a:r>
            <a:r>
              <a:rPr lang="en-US" altLang="zh-CN" sz="1400" b="0" i="0" u="none" strike="noStrike" dirty="0">
                <a:solidFill>
                  <a:srgbClr val="000000"/>
                </a:solidFill>
              </a:rPr>
              <a:t>`</a:t>
            </a:r>
            <a:r>
              <a:rPr lang="en-US" sz="1400" b="0" i="0" u="none" strike="noStrike" dirty="0">
                <a:solidFill>
                  <a:srgbClr val="000000"/>
                </a:solidFill>
              </a:rPr>
              <a:t>metadata.csv` </a:t>
            </a:r>
            <a:r>
              <a:rPr lang="zh-CN" altLang="en-US" sz="1400" b="0" i="0" u="none" strike="noStrike" dirty="0">
                <a:solidFill>
                  <a:srgbClr val="000000"/>
                </a:solidFill>
              </a:rPr>
              <a:t>记录</a:t>
            </a:r>
          </a:p>
          <a:p>
            <a:pPr indent="0" algn="l">
              <a:lnSpc>
                <a:spcPct val="100000"/>
              </a:lnSpc>
            </a:pPr>
            <a:r>
              <a:rPr lang="en-US" altLang="zh-CN" sz="1400" b="0" i="0" u="none" strike="noStrike" dirty="0">
                <a:solidFill>
                  <a:srgbClr val="000000"/>
                </a:solidFill>
              </a:rPr>
              <a:t>2. </a:t>
            </a:r>
            <a:r>
              <a:rPr lang="zh-CN" altLang="en-US" sz="1400" b="0" i="0" u="none" strike="noStrike" dirty="0">
                <a:solidFill>
                  <a:srgbClr val="000000"/>
                </a:solidFill>
              </a:rPr>
              <a:t>展示原始 </a:t>
            </a:r>
            <a:r>
              <a:rPr lang="en-US" sz="1400" b="0" i="0" u="none" strike="noStrike" dirty="0" err="1">
                <a:solidFill>
                  <a:srgbClr val="000000"/>
                </a:solidFill>
              </a:rPr>
              <a:t>PDF：`data</a:t>
            </a:r>
            <a:r>
              <a:rPr lang="en-US" sz="1400" b="0" i="0" u="none" strike="noStrike" dirty="0">
                <a:solidFill>
                  <a:srgbClr val="000000"/>
                </a:solidFill>
              </a:rPr>
              <a:t>/pdf/002200_002200_20250412_5b117085.pdf`</a:t>
            </a:r>
          </a:p>
          <a:p>
            <a:pPr indent="0" algn="l">
              <a:lnSpc>
                <a:spcPct val="100000"/>
              </a:lnSpc>
            </a:pPr>
            <a:r>
              <a:rPr lang="en-US" sz="1400" b="0" i="0" u="none" strike="noStrike" dirty="0">
                <a:solidFill>
                  <a:srgbClr val="000000"/>
                </a:solidFill>
              </a:rPr>
              <a:t>3. </a:t>
            </a:r>
            <a:r>
              <a:rPr lang="zh-CN" altLang="en-US" sz="1400" b="0" i="0" u="none" strike="noStrike" dirty="0">
                <a:solidFill>
                  <a:srgbClr val="000000"/>
                </a:solidFill>
              </a:rPr>
              <a:t>展示解析后的 </a:t>
            </a:r>
            <a:r>
              <a:rPr lang="en-US" altLang="zh-CN" sz="1400" b="0" i="0" u="none" strike="noStrike" dirty="0">
                <a:solidFill>
                  <a:srgbClr val="000000"/>
                </a:solidFill>
              </a:rPr>
              <a:t>`</a:t>
            </a:r>
            <a:r>
              <a:rPr lang="en-US" sz="1400" b="0" i="0" u="none" strike="noStrike" dirty="0" err="1">
                <a:solidFill>
                  <a:srgbClr val="000000"/>
                </a:solidFill>
              </a:rPr>
              <a:t>parsed_docs_sample.jsonl</a:t>
            </a:r>
            <a:r>
              <a:rPr lang="en-US" sz="1400" b="0" i="0" u="none" strike="noStrike" dirty="0">
                <a:solidFill>
                  <a:srgbClr val="000000"/>
                </a:solidFill>
              </a:rPr>
              <a:t>`</a:t>
            </a:r>
          </a:p>
          <a:p>
            <a:pPr indent="0" algn="l">
              <a:lnSpc>
                <a:spcPct val="100000"/>
              </a:lnSpc>
            </a:pPr>
            <a:r>
              <a:rPr lang="en-US" sz="1400" b="0" i="0" u="none" strike="noStrike" dirty="0">
                <a:solidFill>
                  <a:srgbClr val="000000"/>
                </a:solidFill>
              </a:rPr>
              <a:t>3. </a:t>
            </a:r>
            <a:r>
              <a:rPr lang="zh-CN" altLang="en-US" sz="1400" b="0" i="0" u="none" strike="noStrike" dirty="0">
                <a:solidFill>
                  <a:srgbClr val="000000"/>
                </a:solidFill>
              </a:rPr>
              <a:t>展示 </a:t>
            </a:r>
            <a:r>
              <a:rPr lang="en-US" sz="1400" b="0" i="0" u="none" strike="noStrike" dirty="0">
                <a:solidFill>
                  <a:srgbClr val="000000"/>
                </a:solidFill>
              </a:rPr>
              <a:t>section </a:t>
            </a:r>
            <a:r>
              <a:rPr lang="zh-CN" altLang="en-US" sz="1400" b="0" i="0" u="none" strike="noStrike" dirty="0">
                <a:solidFill>
                  <a:srgbClr val="000000"/>
                </a:solidFill>
              </a:rPr>
              <a:t>命中“中标情况”和“风险提示”</a:t>
            </a:r>
          </a:p>
          <a:p>
            <a:pPr indent="0" algn="l">
              <a:lnSpc>
                <a:spcPct val="100000"/>
              </a:lnSpc>
            </a:pPr>
            <a:r>
              <a:rPr lang="en-US" altLang="zh-CN" sz="1400" b="0" i="0" u="none" strike="noStrike" dirty="0">
                <a:solidFill>
                  <a:srgbClr val="000000"/>
                </a:solidFill>
              </a:rPr>
              <a:t>4. </a:t>
            </a:r>
            <a:r>
              <a:rPr lang="zh-CN" altLang="en-US" sz="1400" b="0" i="0" u="none" strike="noStrike" dirty="0">
                <a:solidFill>
                  <a:srgbClr val="000000"/>
                </a:solidFill>
              </a:rPr>
              <a:t>展示 </a:t>
            </a:r>
            <a:r>
              <a:rPr lang="en-US" altLang="zh-CN" sz="1400" b="0" i="0" u="none" strike="noStrike" dirty="0">
                <a:solidFill>
                  <a:srgbClr val="000000"/>
                </a:solidFill>
              </a:rPr>
              <a:t>`</a:t>
            </a:r>
            <a:r>
              <a:rPr lang="en-US" sz="1400" b="0" i="0" u="none" strike="noStrike" dirty="0" err="1">
                <a:solidFill>
                  <a:srgbClr val="000000"/>
                </a:solidFill>
              </a:rPr>
              <a:t>final_results.jsonl</a:t>
            </a:r>
            <a:r>
              <a:rPr lang="en-US" sz="1400" b="0" i="0" u="none" strike="noStrike" dirty="0">
                <a:solidFill>
                  <a:srgbClr val="000000"/>
                </a:solidFill>
              </a:rPr>
              <a:t>` </a:t>
            </a:r>
            <a:r>
              <a:rPr lang="zh-CN" altLang="en-US" sz="1400" b="0" i="0" u="none" strike="noStrike" dirty="0">
                <a:solidFill>
                  <a:srgbClr val="000000"/>
                </a:solidFill>
              </a:rPr>
              <a:t>中的结构化结果</a:t>
            </a:r>
          </a:p>
          <a:p>
            <a:pPr indent="0" algn="l">
              <a:lnSpc>
                <a:spcPct val="100000"/>
              </a:lnSpc>
            </a:pPr>
            <a:r>
              <a:rPr lang="en-US" altLang="zh-CN" sz="1400" b="0" i="0" u="none" strike="noStrike" dirty="0">
                <a:solidFill>
                  <a:srgbClr val="000000"/>
                </a:solidFill>
              </a:rPr>
              <a:t>5. </a:t>
            </a:r>
            <a:r>
              <a:rPr lang="zh-CN" altLang="en-US" sz="1400" b="0" i="0" u="none" strike="noStrike" dirty="0">
                <a:solidFill>
                  <a:srgbClr val="000000"/>
                </a:solidFill>
              </a:rPr>
              <a:t>解释 </a:t>
            </a:r>
            <a:r>
              <a:rPr lang="en-US" altLang="zh-CN" sz="1400" b="0" i="0" u="none" strike="noStrike" dirty="0">
                <a:solidFill>
                  <a:srgbClr val="000000"/>
                </a:solidFill>
              </a:rPr>
              <a:t>`</a:t>
            </a:r>
            <a:r>
              <a:rPr lang="en-US" sz="1400" b="0" i="0" u="none" strike="noStrike" dirty="0" err="1">
                <a:solidFill>
                  <a:srgbClr val="000000"/>
                </a:solidFill>
              </a:rPr>
              <a:t>project_name</a:t>
            </a:r>
            <a:r>
              <a:rPr lang="en-US" sz="1400" b="0" i="0" u="none" strike="noStrike" dirty="0">
                <a:solidFill>
                  <a:srgbClr val="000000"/>
                </a:solidFill>
              </a:rPr>
              <a:t>` </a:t>
            </a:r>
            <a:r>
              <a:rPr lang="zh-CN" altLang="en-US" sz="1400" b="0" i="0" u="none" strike="noStrike" dirty="0">
                <a:solidFill>
                  <a:srgbClr val="000000"/>
                </a:solidFill>
              </a:rPr>
              <a:t>和 </a:t>
            </a:r>
            <a:r>
              <a:rPr lang="en-US" altLang="zh-CN" sz="1400" b="0" i="0" u="none" strike="noStrike" dirty="0">
                <a:solidFill>
                  <a:srgbClr val="000000"/>
                </a:solidFill>
              </a:rPr>
              <a:t>`</a:t>
            </a:r>
            <a:r>
              <a:rPr lang="en-US" sz="1400" b="0" i="0" u="none" strike="noStrike" dirty="0" err="1">
                <a:solidFill>
                  <a:srgbClr val="000000"/>
                </a:solidFill>
              </a:rPr>
              <a:t>risk_notice</a:t>
            </a:r>
            <a:r>
              <a:rPr lang="en-US" sz="1400" b="0" i="0" u="none" strike="noStrike" dirty="0">
                <a:solidFill>
                  <a:srgbClr val="000000"/>
                </a:solidFill>
              </a:rPr>
              <a:t>` </a:t>
            </a:r>
            <a:r>
              <a:rPr lang="zh-CN" altLang="en-US" sz="1400" b="0" i="0" u="none" strike="noStrike" dirty="0">
                <a:solidFill>
                  <a:srgbClr val="000000"/>
                </a:solidFill>
              </a:rPr>
              <a:t>的 </a:t>
            </a:r>
            <a:r>
              <a:rPr lang="en-US" sz="1400" b="0" i="0" u="none" strike="noStrike" dirty="0" err="1">
                <a:solidFill>
                  <a:srgbClr val="000000"/>
                </a:solidFill>
              </a:rPr>
              <a:t>evidence_text</a:t>
            </a:r>
            <a:endParaRPr lang="en-US" sz="1400" b="0" i="0" u="none" strike="noStrike" dirty="0">
              <a:solidFill>
                <a:srgbClr val="000000"/>
              </a:solidFill>
            </a:endParaRPr>
          </a:p>
          <a:p>
            <a:pPr indent="0" algn="l">
              <a:lnSpc>
                <a:spcPct val="100000"/>
              </a:lnSpc>
            </a:pPr>
            <a:r>
              <a:rPr lang="en-US" sz="1400" b="0" i="0" u="none" strike="noStrike" dirty="0">
                <a:solidFill>
                  <a:srgbClr val="000000"/>
                </a:solidFill>
              </a:rPr>
              <a:t>6. </a:t>
            </a:r>
            <a:r>
              <a:rPr lang="zh-CN" altLang="en-US" sz="1400" b="0" i="0" u="none" strike="noStrike" dirty="0">
                <a:solidFill>
                  <a:srgbClr val="000000"/>
                </a:solidFill>
              </a:rPr>
              <a:t>展示 </a:t>
            </a:r>
            <a:r>
              <a:rPr lang="en-US" altLang="zh-CN" sz="1400" b="0" i="0" u="none" strike="noStrike" dirty="0">
                <a:solidFill>
                  <a:srgbClr val="000000"/>
                </a:solidFill>
              </a:rPr>
              <a:t>`</a:t>
            </a:r>
            <a:r>
              <a:rPr lang="en-US" sz="1400" b="0" i="0" u="none" strike="noStrike" dirty="0">
                <a:solidFill>
                  <a:srgbClr val="000000"/>
                </a:solidFill>
              </a:rPr>
              <a:t>eval_report_final.md` </a:t>
            </a:r>
            <a:r>
              <a:rPr lang="zh-CN" altLang="en-US" sz="1400" b="0" i="0" u="none" strike="noStrike" dirty="0">
                <a:solidFill>
                  <a:srgbClr val="000000"/>
                </a:solidFill>
              </a:rPr>
              <a:t>中的评估结论</a:t>
            </a:r>
          </a:p>
          <a:p>
            <a:pPr indent="0" algn="l">
              <a:lnSpc>
                <a:spcPct val="100000"/>
              </a:lnSpc>
            </a:pPr>
            <a:endParaRPr lang="zh-CN" altLang="en-US" sz="1400" b="0" i="0" u="none" strike="noStrike" dirty="0">
              <a:solidFill>
                <a:srgbClr val="000000"/>
              </a:solidFill>
            </a:endParaRPr>
          </a:p>
          <a:p>
            <a:pPr indent="0" algn="l">
              <a:lnSpc>
                <a:spcPct val="100000"/>
              </a:lnSpc>
            </a:pPr>
            <a:r>
              <a:rPr lang="en-US" altLang="zh-CN" sz="1400" b="0" i="0" u="none" strike="noStrike" dirty="0">
                <a:solidFill>
                  <a:srgbClr val="000000"/>
                </a:solidFill>
              </a:rPr>
              <a:t>## 4. </a:t>
            </a:r>
            <a:r>
              <a:rPr lang="zh-CN" altLang="en-US" sz="1400" b="0" i="0" u="none" strike="noStrike" dirty="0">
                <a:solidFill>
                  <a:srgbClr val="000000"/>
                </a:solidFill>
              </a:rPr>
              <a:t>方法总结</a:t>
            </a:r>
          </a:p>
          <a:p>
            <a:pPr indent="0" algn="l">
              <a:lnSpc>
                <a:spcPct val="100000"/>
              </a:lnSpc>
            </a:pPr>
            <a:endParaRPr lang="zh-CN" altLang="en-US" sz="1400" b="0" i="0" u="none" strike="noStrike" dirty="0">
              <a:solidFill>
                <a:srgbClr val="000000"/>
              </a:solidFill>
            </a:endParaRPr>
          </a:p>
          <a:p>
            <a:pPr indent="0" algn="l">
              <a:lnSpc>
                <a:spcPct val="100000"/>
              </a:lnSpc>
            </a:pPr>
            <a:r>
              <a:rPr lang="zh-CN" altLang="en-US" sz="1400" b="0" i="0" u="none" strike="noStrike" dirty="0">
                <a:solidFill>
                  <a:srgbClr val="000000"/>
                </a:solidFill>
              </a:rPr>
              <a:t>整体 </a:t>
            </a:r>
            <a:r>
              <a:rPr lang="en-US" sz="1400" b="0" i="0" u="none" strike="noStrike" dirty="0">
                <a:solidFill>
                  <a:srgbClr val="000000"/>
                </a:solidFill>
              </a:rPr>
              <a:t>workflow </a:t>
            </a:r>
            <a:r>
              <a:rPr lang="zh-CN" altLang="en-US" sz="1400" b="0" i="0" u="none" strike="noStrike" dirty="0">
                <a:solidFill>
                  <a:srgbClr val="000000"/>
                </a:solidFill>
              </a:rPr>
              <a:t>为：</a:t>
            </a:r>
          </a:p>
          <a:p>
            <a:pPr indent="0" algn="l">
              <a:lnSpc>
                <a:spcPct val="100000"/>
              </a:lnSpc>
            </a:pPr>
            <a:endParaRPr lang="zh-CN" altLang="en-US" sz="1400" b="0" i="0" u="none" strike="noStrike" dirty="0">
              <a:solidFill>
                <a:srgbClr val="000000"/>
              </a:solidFill>
            </a:endParaRPr>
          </a:p>
          <a:p>
            <a:pPr indent="0" algn="l">
              <a:lnSpc>
                <a:spcPct val="100000"/>
              </a:lnSpc>
            </a:pPr>
            <a:r>
              <a:rPr lang="en-US" altLang="zh-CN" sz="1400" b="0" i="0" u="none" strike="noStrike" dirty="0">
                <a:solidFill>
                  <a:srgbClr val="000000"/>
                </a:solidFill>
              </a:rPr>
              <a:t>`</a:t>
            </a:r>
            <a:r>
              <a:rPr lang="en-US" sz="1400" b="0" i="0" u="none" strike="noStrike" dirty="0">
                <a:solidFill>
                  <a:srgbClr val="000000"/>
                </a:solidFill>
              </a:rPr>
              <a:t>metadata -&gt; audit -&gt; parse -&gt; route -&gt; extract -&gt; validate -&gt; report`</a:t>
            </a:r>
          </a:p>
          <a:p>
            <a:pPr indent="0" algn="l">
              <a:lnSpc>
                <a:spcPct val="100000"/>
              </a:lnSpc>
            </a:pPr>
            <a:endParaRPr lang="en-US" sz="1400" b="0" i="0" u="none" strike="noStrike" dirty="0">
              <a:solidFill>
                <a:srgbClr val="000000"/>
              </a:solidFill>
            </a:endParaRPr>
          </a:p>
          <a:p>
            <a:pPr indent="0" algn="l">
              <a:lnSpc>
                <a:spcPct val="100000"/>
              </a:lnSpc>
            </a:pPr>
            <a:r>
              <a:rPr lang="en-US" sz="1400" b="0" i="0" u="none" strike="noStrike" dirty="0">
                <a:solidFill>
                  <a:srgbClr val="000000"/>
                </a:solidFill>
              </a:rPr>
              <a:t>## 5. </a:t>
            </a:r>
            <a:r>
              <a:rPr lang="zh-CN" altLang="en-US" sz="1400" b="0" i="0" u="none" strike="noStrike" dirty="0">
                <a:solidFill>
                  <a:srgbClr val="000000"/>
                </a:solidFill>
              </a:rPr>
              <a:t>局限与优化</a:t>
            </a:r>
          </a:p>
          <a:p>
            <a:pPr indent="0" algn="l">
              <a:lnSpc>
                <a:spcPct val="100000"/>
              </a:lnSpc>
            </a:pPr>
            <a:endParaRPr lang="zh-CN" altLang="en-US" sz="1400" b="0" i="0" u="none" strike="noStrike" dirty="0">
              <a:solidFill>
                <a:srgbClr val="000000"/>
              </a:solidFill>
            </a:endParaRP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有些公告不披露明确金额，因此保留 </a:t>
            </a:r>
            <a:r>
              <a:rPr lang="en-US" altLang="zh-CN" sz="1400" b="0" i="0" u="none" strike="noStrike" dirty="0">
                <a:solidFill>
                  <a:srgbClr val="000000"/>
                </a:solidFill>
              </a:rPr>
              <a:t>`</a:t>
            </a:r>
            <a:r>
              <a:rPr lang="en-US" sz="1400" b="0" i="0" u="none" strike="noStrike" dirty="0" err="1">
                <a:solidFill>
                  <a:srgbClr val="000000"/>
                </a:solidFill>
              </a:rPr>
              <a:t>bid_amount_text</a:t>
            </a:r>
            <a:r>
              <a:rPr lang="en-US" sz="1400" b="0" i="0" u="none" strike="noStrike" dirty="0">
                <a:solidFill>
                  <a:srgbClr val="000000"/>
                </a:solidFill>
              </a:rPr>
              <a:t>` </a:t>
            </a:r>
            <a:r>
              <a:rPr lang="zh-CN" altLang="en-US" sz="1400" b="0" i="0" u="none" strike="noStrike" dirty="0">
                <a:solidFill>
                  <a:srgbClr val="000000"/>
                </a:solidFill>
              </a:rPr>
              <a:t>原文并允许为 </a:t>
            </a:r>
            <a:r>
              <a:rPr lang="en-US" altLang="zh-CN" sz="1400" b="0" i="0" u="none" strike="noStrike" dirty="0">
                <a:solidFill>
                  <a:srgbClr val="000000"/>
                </a:solidFill>
              </a:rPr>
              <a:t>`</a:t>
            </a:r>
            <a:r>
              <a:rPr lang="en-US" sz="1400" b="0" i="0" u="none" strike="noStrike" dirty="0">
                <a:solidFill>
                  <a:srgbClr val="000000"/>
                </a:solidFill>
              </a:rPr>
              <a:t>null`</a:t>
            </a:r>
          </a:p>
          <a:p>
            <a:pPr indent="0" algn="l">
              <a:lnSpc>
                <a:spcPct val="100000"/>
              </a:lnSpc>
            </a:pPr>
            <a:r>
              <a:rPr lang="en-US" sz="1400" b="0" i="0" u="none" strike="noStrike" dirty="0">
                <a:solidFill>
                  <a:srgbClr val="000000"/>
                </a:solidFill>
              </a:rPr>
              <a:t>- </a:t>
            </a:r>
            <a:r>
              <a:rPr lang="zh-CN" altLang="en-US" sz="1400" b="0" i="0" u="none" strike="noStrike" dirty="0">
                <a:solidFill>
                  <a:srgbClr val="000000"/>
                </a:solidFill>
              </a:rPr>
              <a:t>后续会继续优化标题筛选规则和 </a:t>
            </a:r>
            <a:r>
              <a:rPr lang="en-US" sz="1400" b="0" i="0" u="none" strike="noStrike" dirty="0">
                <a:solidFill>
                  <a:srgbClr val="000000"/>
                </a:solidFill>
              </a:rPr>
              <a:t>section </a:t>
            </a:r>
            <a:r>
              <a:rPr lang="zh-CN" altLang="en-US" sz="1400" b="0" i="0" u="none" strike="noStrike" dirty="0">
                <a:solidFill>
                  <a:srgbClr val="000000"/>
                </a:solidFill>
              </a:rPr>
              <a:t>路由规则</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61677-4718-C0C4-C1FD-409184C125A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DCEE58-9FA6-C698-2613-75C1149FC3C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246E8E2-534E-F59C-1436-8CA0EF11DEB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5D1B77D-894A-79D2-BE74-689A33AB3B7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D6BB57A-7F1A-DCA8-A51D-0EE9878B50D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本页为Demo演示环节，核心是展示从原始PDF到最终结构化结果的完整证据链。设计上采用了卡片式布局，通过图标和分层文字突出了“展示理念”“展示顺序”和“结果意义及答辩重点”三个核心模块，让观众能快速理解Demo的逻辑和重点。</a:t>
            </a:r>
          </a:p>
        </p:txBody>
      </p:sp>
      <p:sp>
        <p:nvSpPr>
          <p:cNvPr id="6" name="Footer Placeholder 5">
            <a:extLst>
              <a:ext uri="{FF2B5EF4-FFF2-40B4-BE49-F238E27FC236}">
                <a16:creationId xmlns:a16="http://schemas.microsoft.com/office/drawing/2014/main" id="{182873B1-5099-DDFB-EDA1-4037A12FA17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E439F6E-8756-9136-770F-16EBCED17C6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36776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27C8D-AEF7-A93A-A628-112321AD823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44320C-2199-DF97-DBF1-506991AFF24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167B1E6-4BDA-516D-D496-CE684F6ADAC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03E9589-7627-D6A8-6368-35649461094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C8A0D6C-5355-8022-A247-10B5F486A88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本页为Demo演示环节，核心是展示从原始PDF到最终结构化结果的完整证据链。设计上采用了卡片式布局，通过图标和分层文字突出了“展示理念”“展示顺序”和“结果意义及答辩重点”三个核心模块，让观众能快速理解Demo的逻辑和重点。</a:t>
            </a:r>
          </a:p>
        </p:txBody>
      </p:sp>
      <p:sp>
        <p:nvSpPr>
          <p:cNvPr id="6" name="Footer Placeholder 5">
            <a:extLst>
              <a:ext uri="{FF2B5EF4-FFF2-40B4-BE49-F238E27FC236}">
                <a16:creationId xmlns:a16="http://schemas.microsoft.com/office/drawing/2014/main" id="{800E8816-677E-A608-6D27-4F66F248D76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95E6600-0770-DE30-2B07-38FE6EA34E1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96665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780E5-3D77-5AC5-94C8-4D6B0102366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B92791-5E57-1872-4B81-43DC17A5968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0AD2A62-ADD9-255B-5FB1-1274FF0AF17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2C793B9-267E-605D-DBB1-44B7AF00B65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CD1D5A4-F513-145E-32FA-65EBDB0EBB7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本页为Demo演示环节，核心是展示从原始PDF到最终结构化结果的完整证据链。设计上采用了卡片式布局，通过图标和分层文字突出了“展示理念”“展示顺序”和“结果意义及答辩重点”三个核心模块，让观众能快速理解Demo的逻辑和重点。</a:t>
            </a:r>
          </a:p>
        </p:txBody>
      </p:sp>
      <p:sp>
        <p:nvSpPr>
          <p:cNvPr id="6" name="Footer Placeholder 5">
            <a:extLst>
              <a:ext uri="{FF2B5EF4-FFF2-40B4-BE49-F238E27FC236}">
                <a16:creationId xmlns:a16="http://schemas.microsoft.com/office/drawing/2014/main" id="{B97C7178-4113-4A45-CB3E-A426A338489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647A66D-EACE-3B86-D185-B94789CDAF0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91987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836D0-DC1E-02B3-1DB6-928425DD69E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5C0F0A-C99D-8FB8-2858-5D30A82FFAE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4166706-EB5B-53FD-9153-739125B35DF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EFD3344-F24E-17EF-8285-1D9511FD86A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CDB01D3-3AC8-0507-B446-E447E60B0C2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本页为Demo演示环节，核心是展示从原始PDF到最终结构化结果的完整证据链。设计上采用了卡片式布局，通过图标和分层文字突出了“展示理念”“展示顺序”和“结果意义及答辩重点”三个核心模块，让观众能快速理解Demo的逻辑和重点。</a:t>
            </a:r>
          </a:p>
        </p:txBody>
      </p:sp>
      <p:sp>
        <p:nvSpPr>
          <p:cNvPr id="6" name="Footer Placeholder 5">
            <a:extLst>
              <a:ext uri="{FF2B5EF4-FFF2-40B4-BE49-F238E27FC236}">
                <a16:creationId xmlns:a16="http://schemas.microsoft.com/office/drawing/2014/main" id="{63F8B43D-338E-0774-5352-F2A764D9934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5C39550-2D25-D85D-F583-83758DFE872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70223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设计了8个核心字段来结构化公告信息。其中两个关键决策是：第一，保留金额的原始文本，因为金额的表达方式多种多样，强行标准化容易出错。第二，强制要求每个字段都附带证据，这大大增强了我们结果的可信度和可审计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第四部分，我们将深入技术层面，介绍PDF解析、章节路由技术，以及我们设计的整体工作流程。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这是我们项目的整体工作流程图。从获取元数据开始，经过审计、解析、路由、抽取、校验，最终输出结构化结果。这个流程保证了项目的可复现性、可调试性和可解释性。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22F60-487E-05FA-FD39-FBC0F95C974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EAA6560-369E-67A7-16AA-5027C12EE28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81639DB-334D-BB98-D1BB-77716D73CB9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B8B4B4D-E78B-BB46-5A7B-C51C31BC71C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14FE6F8-4241-FF69-61F2-B73E698F301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这是我们项目的整体工作流程图。从获取元数据开始，经过审计、解析、路由、抽取、校验，最终输出结构化结果。这个流程保证了项目的可复现性、可调试性和可解释性。</a:t>
            </a:r>
          </a:p>
        </p:txBody>
      </p:sp>
      <p:sp>
        <p:nvSpPr>
          <p:cNvPr id="6" name="Footer Placeholder 5">
            <a:extLst>
              <a:ext uri="{FF2B5EF4-FFF2-40B4-BE49-F238E27FC236}">
                <a16:creationId xmlns:a16="http://schemas.microsoft.com/office/drawing/2014/main" id="{CA679B1C-60A1-C9E1-7556-DA94A968AE6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E801B93-FC54-664F-E5E6-D64899A0011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29600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2F">
              <a:alpha val="75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270000" y="1879600"/>
            <a:ext cx="9652000" cy="254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4000" b="1" i="0" u="none" strike="noStrike" dirty="0" err="1">
                <a:solidFill>
                  <a:srgbClr val="FFFFFF"/>
                </a:solidFill>
                <a:latin typeface="Noto Sans SC"/>
                <a:ea typeface="Noto Sans SC"/>
                <a:cs typeface="Noto Sans SC"/>
                <a:sym typeface="Noto Sans SC"/>
              </a:rPr>
              <a:t>上市公司中标公告关键信息抽取</a:t>
            </a:r>
            <a:endParaRPr lang="en-US" sz="1100" dirty="0"/>
          </a:p>
          <a:p>
            <a:pPr indent="0" algn="l">
              <a:lnSpc>
                <a:spcPct val="108333"/>
              </a:lnSpc>
            </a:pPr>
            <a:r>
              <a:rPr lang="en-US" sz="4000" b="1" i="0" u="none" strike="noStrike" dirty="0" err="1">
                <a:solidFill>
                  <a:srgbClr val="FFFFFF"/>
                </a:solidFill>
                <a:latin typeface="Noto Sans SC"/>
                <a:ea typeface="Noto Sans SC"/>
                <a:cs typeface="Noto Sans SC"/>
                <a:sym typeface="Noto Sans SC"/>
              </a:rPr>
              <a:t>与项目台账生成</a:t>
            </a:r>
            <a:endParaRPr lang="en-US" sz="4000" b="1" i="0" u="none" strike="noStrike" dirty="0">
              <a:solidFill>
                <a:srgbClr val="FFFFFF"/>
              </a:solidFill>
              <a:latin typeface="Noto Sans SC"/>
              <a:ea typeface="Noto Sans SC"/>
              <a:cs typeface="Noto Sans SC"/>
              <a:sym typeface="Noto Sans S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762000" y="460375"/>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1F2329"/>
                </a:solidFill>
                <a:latin typeface="Noto Sans SC"/>
                <a:ea typeface="Noto Sans SC"/>
                <a:cs typeface="Noto Sans SC"/>
                <a:sym typeface="Noto Sans SC"/>
              </a:rPr>
              <a:t>目录</a:t>
            </a:r>
            <a:endParaRPr lang="en-US" sz="1100" dirty="0"/>
          </a:p>
        </p:txBody>
      </p:sp>
      <p:sp>
        <p:nvSpPr>
          <p:cNvPr id="4" name="AutoShape 4"/>
          <p:cNvSpPr/>
          <p:nvPr/>
        </p:nvSpPr>
        <p:spPr>
          <a:xfrm>
            <a:off x="762000" y="1196975"/>
            <a:ext cx="1270000" cy="76200"/>
          </a:xfrm>
          <a:prstGeom prst="roundRect">
            <a:avLst>
              <a:gd name="adj" fmla="val 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654175"/>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6" name="AutoShape 6"/>
          <p:cNvSpPr/>
          <p:nvPr/>
        </p:nvSpPr>
        <p:spPr>
          <a:xfrm>
            <a:off x="762000" y="1654175"/>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1117600" y="1781175"/>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01</a:t>
            </a:r>
            <a:endParaRPr lang="en-US" sz="1100"/>
          </a:p>
        </p:txBody>
      </p:sp>
      <p:sp>
        <p:nvSpPr>
          <p:cNvPr id="8" name="AutoShape 8"/>
          <p:cNvSpPr/>
          <p:nvPr/>
        </p:nvSpPr>
        <p:spPr>
          <a:xfrm>
            <a:off x="1968500" y="183197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151"/>
                </a:solidFill>
                <a:latin typeface="Noto Sans SC"/>
                <a:ea typeface="Noto Sans SC"/>
                <a:cs typeface="Noto Sans SC"/>
                <a:sym typeface="Noto Sans SC"/>
              </a:rPr>
              <a:t>项目题目与金融问题</a:t>
            </a:r>
            <a:endParaRPr lang="en-US" sz="1100"/>
          </a:p>
        </p:txBody>
      </p:sp>
      <p:sp>
        <p:nvSpPr>
          <p:cNvPr id="9" name="AutoShape 9"/>
          <p:cNvSpPr/>
          <p:nvPr/>
        </p:nvSpPr>
        <p:spPr>
          <a:xfrm>
            <a:off x="762000" y="2670175"/>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762000" y="2670175"/>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1117600" y="2797175"/>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02</a:t>
            </a:r>
            <a:endParaRPr lang="en-US" sz="1100"/>
          </a:p>
        </p:txBody>
      </p:sp>
      <p:sp>
        <p:nvSpPr>
          <p:cNvPr id="12" name="AutoShape 12"/>
          <p:cNvSpPr/>
          <p:nvPr/>
        </p:nvSpPr>
        <p:spPr>
          <a:xfrm>
            <a:off x="1968500" y="284797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151"/>
                </a:solidFill>
                <a:latin typeface="Noto Sans SC"/>
                <a:ea typeface="Noto Sans SC"/>
                <a:cs typeface="Noto Sans SC"/>
                <a:sym typeface="Noto Sans SC"/>
              </a:rPr>
              <a:t>巨潮数据来源</a:t>
            </a:r>
            <a:endParaRPr lang="en-US" sz="1100"/>
          </a:p>
        </p:txBody>
      </p:sp>
      <p:sp>
        <p:nvSpPr>
          <p:cNvPr id="13" name="AutoShape 13"/>
          <p:cNvSpPr/>
          <p:nvPr/>
        </p:nvSpPr>
        <p:spPr>
          <a:xfrm>
            <a:off x="762000" y="3686175"/>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14" name="AutoShape 14"/>
          <p:cNvSpPr/>
          <p:nvPr/>
        </p:nvSpPr>
        <p:spPr>
          <a:xfrm>
            <a:off x="762000" y="3686175"/>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1117600" y="3813175"/>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03</a:t>
            </a:r>
            <a:endParaRPr lang="en-US" sz="1100"/>
          </a:p>
        </p:txBody>
      </p:sp>
      <p:sp>
        <p:nvSpPr>
          <p:cNvPr id="16" name="AutoShape 16"/>
          <p:cNvSpPr/>
          <p:nvPr/>
        </p:nvSpPr>
        <p:spPr>
          <a:xfrm>
            <a:off x="1968500" y="386397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151"/>
                </a:solidFill>
                <a:latin typeface="Noto Sans SC"/>
                <a:ea typeface="Noto Sans SC"/>
                <a:cs typeface="Noto Sans SC"/>
                <a:sym typeface="Noto Sans SC"/>
              </a:rPr>
              <a:t>难度档位</a:t>
            </a:r>
            <a:endParaRPr lang="en-US" sz="1100"/>
          </a:p>
        </p:txBody>
      </p:sp>
      <p:sp>
        <p:nvSpPr>
          <p:cNvPr id="17" name="AutoShape 17"/>
          <p:cNvSpPr/>
          <p:nvPr/>
        </p:nvSpPr>
        <p:spPr>
          <a:xfrm>
            <a:off x="6350000" y="1654175"/>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18" name="AutoShape 18"/>
          <p:cNvSpPr/>
          <p:nvPr/>
        </p:nvSpPr>
        <p:spPr>
          <a:xfrm>
            <a:off x="6350000" y="1654175"/>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9" name="AutoShape 19"/>
          <p:cNvSpPr/>
          <p:nvPr/>
        </p:nvSpPr>
        <p:spPr>
          <a:xfrm>
            <a:off x="6705600" y="1781175"/>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06</a:t>
            </a:r>
            <a:endParaRPr lang="en-US" sz="1100"/>
          </a:p>
        </p:txBody>
      </p:sp>
      <p:sp>
        <p:nvSpPr>
          <p:cNvPr id="20" name="AutoShape 20"/>
          <p:cNvSpPr/>
          <p:nvPr/>
        </p:nvSpPr>
        <p:spPr>
          <a:xfrm>
            <a:off x="7556500" y="183197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151"/>
                </a:solidFill>
                <a:latin typeface="Noto Sans SC"/>
                <a:ea typeface="Noto Sans SC"/>
                <a:cs typeface="Noto Sans SC"/>
                <a:sym typeface="Noto Sans SC"/>
              </a:rPr>
              <a:t>Workflow</a:t>
            </a:r>
            <a:endParaRPr lang="en-US" sz="1100"/>
          </a:p>
        </p:txBody>
      </p:sp>
      <p:sp>
        <p:nvSpPr>
          <p:cNvPr id="21" name="AutoShape 21"/>
          <p:cNvSpPr/>
          <p:nvPr/>
        </p:nvSpPr>
        <p:spPr>
          <a:xfrm>
            <a:off x="6350000" y="2670175"/>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22" name="AutoShape 22"/>
          <p:cNvSpPr/>
          <p:nvPr/>
        </p:nvSpPr>
        <p:spPr>
          <a:xfrm>
            <a:off x="6350000" y="2670175"/>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3" name="AutoShape 23"/>
          <p:cNvSpPr/>
          <p:nvPr/>
        </p:nvSpPr>
        <p:spPr>
          <a:xfrm>
            <a:off x="6705600" y="2797175"/>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07</a:t>
            </a:r>
            <a:endParaRPr lang="en-US" sz="1100"/>
          </a:p>
        </p:txBody>
      </p:sp>
      <p:sp>
        <p:nvSpPr>
          <p:cNvPr id="24" name="AutoShape 24"/>
          <p:cNvSpPr/>
          <p:nvPr/>
        </p:nvSpPr>
        <p:spPr>
          <a:xfrm>
            <a:off x="7556500" y="284797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151"/>
                </a:solidFill>
                <a:latin typeface="Noto Sans SC"/>
                <a:ea typeface="Noto Sans SC"/>
                <a:cs typeface="Noto Sans SC"/>
                <a:sym typeface="Noto Sans SC"/>
              </a:rPr>
              <a:t>Demo</a:t>
            </a:r>
            <a:endParaRPr lang="en-US" sz="1100"/>
          </a:p>
        </p:txBody>
      </p:sp>
      <p:sp>
        <p:nvSpPr>
          <p:cNvPr id="25" name="AutoShape 25"/>
          <p:cNvSpPr/>
          <p:nvPr/>
        </p:nvSpPr>
        <p:spPr>
          <a:xfrm>
            <a:off x="6350000" y="3686175"/>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26" name="AutoShape 26"/>
          <p:cNvSpPr/>
          <p:nvPr/>
        </p:nvSpPr>
        <p:spPr>
          <a:xfrm>
            <a:off x="6350000" y="3686175"/>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7" name="AutoShape 27"/>
          <p:cNvSpPr/>
          <p:nvPr/>
        </p:nvSpPr>
        <p:spPr>
          <a:xfrm>
            <a:off x="6705600" y="3813175"/>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08</a:t>
            </a:r>
            <a:endParaRPr lang="en-US" sz="1100"/>
          </a:p>
        </p:txBody>
      </p:sp>
      <p:sp>
        <p:nvSpPr>
          <p:cNvPr id="28" name="AutoShape 28"/>
          <p:cNvSpPr/>
          <p:nvPr/>
        </p:nvSpPr>
        <p:spPr>
          <a:xfrm>
            <a:off x="7556500" y="386397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151"/>
                </a:solidFill>
                <a:latin typeface="Noto Sans SC"/>
                <a:ea typeface="Noto Sans SC"/>
                <a:cs typeface="Noto Sans SC"/>
                <a:sym typeface="Noto Sans SC"/>
              </a:rPr>
              <a:t>评估结果</a:t>
            </a:r>
            <a:endParaRPr lang="en-US" sz="1100"/>
          </a:p>
        </p:txBody>
      </p:sp>
      <p:sp>
        <p:nvSpPr>
          <p:cNvPr id="29" name="AutoShape 29"/>
          <p:cNvSpPr/>
          <p:nvPr/>
        </p:nvSpPr>
        <p:spPr>
          <a:xfrm>
            <a:off x="762000" y="4702175"/>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30" name="AutoShape 30"/>
          <p:cNvSpPr/>
          <p:nvPr/>
        </p:nvSpPr>
        <p:spPr>
          <a:xfrm>
            <a:off x="762000" y="4702175"/>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1" name="AutoShape 31"/>
          <p:cNvSpPr/>
          <p:nvPr/>
        </p:nvSpPr>
        <p:spPr>
          <a:xfrm>
            <a:off x="1117600" y="4829175"/>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04</a:t>
            </a:r>
            <a:endParaRPr lang="en-US" sz="1100"/>
          </a:p>
        </p:txBody>
      </p:sp>
      <p:sp>
        <p:nvSpPr>
          <p:cNvPr id="32" name="AutoShape 32"/>
          <p:cNvSpPr/>
          <p:nvPr/>
        </p:nvSpPr>
        <p:spPr>
          <a:xfrm>
            <a:off x="1968500" y="487997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151"/>
                </a:solidFill>
                <a:latin typeface="Noto Sans SC"/>
                <a:ea typeface="Noto Sans SC"/>
                <a:cs typeface="Noto Sans SC"/>
                <a:sym typeface="Noto Sans SC"/>
              </a:rPr>
              <a:t>字段与 Schema</a:t>
            </a:r>
            <a:endParaRPr lang="en-US" sz="1100"/>
          </a:p>
        </p:txBody>
      </p:sp>
      <p:sp>
        <p:nvSpPr>
          <p:cNvPr id="33" name="AutoShape 33"/>
          <p:cNvSpPr/>
          <p:nvPr/>
        </p:nvSpPr>
        <p:spPr>
          <a:xfrm>
            <a:off x="762000" y="5715000"/>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34" name="AutoShape 34"/>
          <p:cNvSpPr/>
          <p:nvPr/>
        </p:nvSpPr>
        <p:spPr>
          <a:xfrm>
            <a:off x="762000" y="5715000"/>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5" name="AutoShape 35"/>
          <p:cNvSpPr/>
          <p:nvPr/>
        </p:nvSpPr>
        <p:spPr>
          <a:xfrm>
            <a:off x="1117600" y="5842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05</a:t>
            </a:r>
            <a:endParaRPr lang="en-US" sz="1100"/>
          </a:p>
        </p:txBody>
      </p:sp>
      <p:sp>
        <p:nvSpPr>
          <p:cNvPr id="36" name="AutoShape 36"/>
          <p:cNvSpPr/>
          <p:nvPr/>
        </p:nvSpPr>
        <p:spPr>
          <a:xfrm>
            <a:off x="1968500" y="58674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374151"/>
                </a:solidFill>
                <a:latin typeface="Noto Sans SC"/>
                <a:ea typeface="Noto Sans SC"/>
                <a:cs typeface="Noto Sans SC"/>
                <a:sym typeface="Noto Sans SC"/>
              </a:rPr>
              <a:t>PDF </a:t>
            </a:r>
            <a:r>
              <a:rPr lang="en-US" sz="1400" b="0" i="0" u="none" strike="noStrike" dirty="0" err="1">
                <a:solidFill>
                  <a:srgbClr val="374151"/>
                </a:solidFill>
                <a:latin typeface="Noto Sans SC"/>
                <a:ea typeface="Noto Sans SC"/>
                <a:cs typeface="Noto Sans SC"/>
                <a:sym typeface="Noto Sans SC"/>
              </a:rPr>
              <a:t>解析与</a:t>
            </a:r>
            <a:r>
              <a:rPr lang="en-US" sz="1400" b="0" i="0" u="none" strike="noStrike" dirty="0">
                <a:solidFill>
                  <a:srgbClr val="374151"/>
                </a:solidFill>
                <a:latin typeface="Noto Sans SC"/>
                <a:ea typeface="Noto Sans SC"/>
                <a:cs typeface="Noto Sans SC"/>
                <a:sym typeface="Noto Sans SC"/>
              </a:rPr>
              <a:t> Section </a:t>
            </a:r>
            <a:r>
              <a:rPr lang="en-US" sz="1400" b="0" i="0" u="none" strike="noStrike" dirty="0" err="1">
                <a:solidFill>
                  <a:srgbClr val="374151"/>
                </a:solidFill>
                <a:latin typeface="Noto Sans SC"/>
                <a:ea typeface="Noto Sans SC"/>
                <a:cs typeface="Noto Sans SC"/>
                <a:sym typeface="Noto Sans SC"/>
              </a:rPr>
              <a:t>检查</a:t>
            </a:r>
            <a:endParaRPr lang="en-US" sz="1100" dirty="0"/>
          </a:p>
        </p:txBody>
      </p:sp>
      <p:sp>
        <p:nvSpPr>
          <p:cNvPr id="37" name="AutoShape 37"/>
          <p:cNvSpPr/>
          <p:nvPr/>
        </p:nvSpPr>
        <p:spPr>
          <a:xfrm>
            <a:off x="6350000" y="4702175"/>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38" name="AutoShape 38"/>
          <p:cNvSpPr/>
          <p:nvPr/>
        </p:nvSpPr>
        <p:spPr>
          <a:xfrm>
            <a:off x="6350000" y="4702175"/>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9" name="AutoShape 39"/>
          <p:cNvSpPr/>
          <p:nvPr/>
        </p:nvSpPr>
        <p:spPr>
          <a:xfrm>
            <a:off x="6705600" y="4829175"/>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09</a:t>
            </a:r>
            <a:endParaRPr lang="en-US" sz="1100"/>
          </a:p>
        </p:txBody>
      </p:sp>
      <p:sp>
        <p:nvSpPr>
          <p:cNvPr id="40" name="AutoShape 40"/>
          <p:cNvSpPr/>
          <p:nvPr/>
        </p:nvSpPr>
        <p:spPr>
          <a:xfrm>
            <a:off x="7556500" y="487997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74151"/>
                </a:solidFill>
                <a:latin typeface="Noto Sans SC"/>
                <a:ea typeface="Noto Sans SC"/>
                <a:cs typeface="Noto Sans SC"/>
                <a:sym typeface="Noto Sans SC"/>
              </a:rPr>
              <a:t>优化过程</a:t>
            </a:r>
            <a:endParaRPr lang="en-US" sz="1100"/>
          </a:p>
        </p:txBody>
      </p:sp>
      <p:sp>
        <p:nvSpPr>
          <p:cNvPr id="41" name="AutoShape 41"/>
          <p:cNvSpPr/>
          <p:nvPr/>
        </p:nvSpPr>
        <p:spPr>
          <a:xfrm>
            <a:off x="6350000" y="5715000"/>
            <a:ext cx="5080000" cy="762000"/>
          </a:xfrm>
          <a:prstGeom prst="roundRect">
            <a:avLst>
              <a:gd name="adj" fmla="val 20000"/>
            </a:avLst>
          </a:prstGeom>
          <a:solidFill>
            <a:srgbClr val="FFFFFF">
              <a:alpha val="95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42" name="AutoShape 42"/>
          <p:cNvSpPr/>
          <p:nvPr/>
        </p:nvSpPr>
        <p:spPr>
          <a:xfrm>
            <a:off x="6350000" y="5715000"/>
            <a:ext cx="101600" cy="762000"/>
          </a:xfrm>
          <a:prstGeom prst="roundRect">
            <a:avLst>
              <a:gd name="adj" fmla="val 150000"/>
            </a:avLst>
          </a:prstGeom>
          <a:solidFill>
            <a:srgbClr val="14B8A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43" name="AutoShape 43"/>
          <p:cNvSpPr/>
          <p:nvPr/>
        </p:nvSpPr>
        <p:spPr>
          <a:xfrm>
            <a:off x="6705600" y="5842000"/>
            <a:ext cx="76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4B8A6"/>
                </a:solidFill>
                <a:latin typeface="Noto Sans SC"/>
                <a:ea typeface="Noto Sans SC"/>
                <a:cs typeface="Noto Sans SC"/>
                <a:sym typeface="Noto Sans SC"/>
              </a:rPr>
              <a:t>10</a:t>
            </a:r>
            <a:endParaRPr lang="en-US" sz="1100"/>
          </a:p>
        </p:txBody>
      </p:sp>
      <p:sp>
        <p:nvSpPr>
          <p:cNvPr id="44" name="AutoShape 44"/>
          <p:cNvSpPr/>
          <p:nvPr/>
        </p:nvSpPr>
        <p:spPr>
          <a:xfrm>
            <a:off x="7556500" y="58674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Vibe Coding 反思</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0" tIns="0" rIns="0" bIns="0" rtlCol="0" anchor="ctr" anchorCtr="0"/>
          <a:lstStyle/>
          <a:p>
            <a:pPr algn="ctr">
              <a:defRPr/>
            </a:pPr>
            <a:endParaRPr dirty="0"/>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a:solidFill>
                  <a:srgbClr val="2D3748"/>
                </a:solidFill>
                <a:latin typeface="Noto Sans SC"/>
                <a:ea typeface="Noto Sans SC"/>
                <a:cs typeface="Noto Sans SC"/>
                <a:sym typeface="Noto Sans SC"/>
              </a:rPr>
              <a:t>01 </a:t>
            </a:r>
            <a:r>
              <a:rPr lang="en-US" sz="2800" b="1" i="0" u="none" strike="noStrike" dirty="0" err="1">
                <a:solidFill>
                  <a:srgbClr val="2D3748"/>
                </a:solidFill>
                <a:latin typeface="Noto Sans SC"/>
                <a:ea typeface="Noto Sans SC"/>
                <a:cs typeface="Noto Sans SC"/>
                <a:sym typeface="Noto Sans SC"/>
              </a:rPr>
              <a:t>项目题目与金融问题</a:t>
            </a:r>
            <a:endParaRPr lang="en-US" sz="1100" dirty="0"/>
          </a:p>
        </p:txBody>
      </p:sp>
      <p:sp>
        <p:nvSpPr>
          <p:cNvPr id="4" name="AutoShape 4"/>
          <p:cNvSpPr/>
          <p:nvPr/>
        </p:nvSpPr>
        <p:spPr>
          <a:xfrm>
            <a:off x="762000" y="1333500"/>
            <a:ext cx="1270000" cy="50800"/>
          </a:xfrm>
          <a:prstGeom prst="roundRect">
            <a:avLst>
              <a:gd name="adj" fmla="val 0"/>
            </a:avLst>
          </a:prstGeom>
          <a:solidFill>
            <a:srgbClr val="2A9D8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917700"/>
            <a:ext cx="3378200" cy="2921000"/>
          </a:xfrm>
          <a:prstGeom prst="roundRect">
            <a:avLst>
              <a:gd name="adj" fmla="val 0"/>
            </a:avLst>
          </a:prstGeom>
          <a:solidFill>
            <a:srgbClr val="FFFFFF">
              <a:alpha val="95000"/>
            </a:srgbClr>
          </a:solidFill>
          <a:ln w="12700" cap="flat" cmpd="sng">
            <a:solidFill>
              <a:srgbClr val="4FD1C5">
                <a:alpha val="60000"/>
              </a:srgbClr>
            </a:solidFill>
            <a:prstDash val="solid"/>
            <a:round/>
          </a:ln>
          <a:effectLst>
            <a:outerShdw blurRad="127000" dist="50800" dir="5400000" algn="tl" rotWithShape="0">
              <a:srgbClr val="2A9D8F">
                <a:alpha val="15000"/>
              </a:srgbClr>
            </a:outerShdw>
          </a:effectLst>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35200"/>
            <a:ext cx="508000" cy="508000"/>
          </a:xfrm>
          <a:prstGeom prst="rect">
            <a:avLst/>
          </a:prstGeom>
        </p:spPr>
      </p:pic>
      <p:sp>
        <p:nvSpPr>
          <p:cNvPr id="7" name="AutoShape 7"/>
          <p:cNvSpPr/>
          <p:nvPr/>
        </p:nvSpPr>
        <p:spPr>
          <a:xfrm>
            <a:off x="1651000" y="2235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64653"/>
                </a:solidFill>
                <a:latin typeface="Noto Sans SC"/>
                <a:ea typeface="Noto Sans SC"/>
                <a:cs typeface="Noto Sans SC"/>
                <a:sym typeface="Noto Sans SC"/>
              </a:rPr>
              <a:t>项目题目</a:t>
            </a:r>
            <a:endParaRPr lang="en-US" sz="1100"/>
          </a:p>
        </p:txBody>
      </p:sp>
      <p:cxnSp>
        <p:nvCxnSpPr>
          <p:cNvPr id="8" name="Connector 8"/>
          <p:cNvCxnSpPr/>
          <p:nvPr/>
        </p:nvCxnSpPr>
        <p:spPr>
          <a:xfrm rot="-15211">
            <a:off x="1016014" y="3054350"/>
            <a:ext cx="2870200" cy="12700"/>
          </a:xfrm>
          <a:prstGeom prst="straightConnector1">
            <a:avLst/>
          </a:prstGeom>
          <a:solidFill>
            <a:srgbClr val="DEE0E3">
              <a:alpha val="100000"/>
            </a:srgbClr>
          </a:solidFill>
          <a:ln w="12700" cap="flat" cmpd="sng">
            <a:solidFill>
              <a:srgbClr val="CBD5E0">
                <a:alpha val="100000"/>
              </a:srgbClr>
            </a:solidFill>
            <a:prstDash val="solid"/>
            <a:round/>
            <a:headEnd type="none" w="med" len="med"/>
            <a:tailEnd type="none" w="med" len="med"/>
          </a:ln>
        </p:spPr>
      </p:cxnSp>
      <p:sp>
        <p:nvSpPr>
          <p:cNvPr id="9" name="AutoShape 9"/>
          <p:cNvSpPr/>
          <p:nvPr/>
        </p:nvSpPr>
        <p:spPr>
          <a:xfrm>
            <a:off x="1066800" y="3175000"/>
            <a:ext cx="28702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374151"/>
                </a:solidFill>
                <a:latin typeface="Noto Sans SC"/>
                <a:ea typeface="Noto Sans SC"/>
                <a:cs typeface="Noto Sans SC"/>
                <a:sym typeface="Noto Sans SC"/>
              </a:rPr>
              <a:t>上市公司中标公告关键信息抽取与项目台账生成</a:t>
            </a:r>
            <a:endParaRPr lang="en-US" sz="1100" dirty="0"/>
          </a:p>
        </p:txBody>
      </p:sp>
      <p:sp>
        <p:nvSpPr>
          <p:cNvPr id="10" name="AutoShape 10"/>
          <p:cNvSpPr/>
          <p:nvPr/>
        </p:nvSpPr>
        <p:spPr>
          <a:xfrm>
            <a:off x="4394200" y="1917700"/>
            <a:ext cx="3378200" cy="2921000"/>
          </a:xfrm>
          <a:prstGeom prst="roundRect">
            <a:avLst>
              <a:gd name="adj" fmla="val 0"/>
            </a:avLst>
          </a:prstGeom>
          <a:solidFill>
            <a:srgbClr val="FFFFFF">
              <a:alpha val="95000"/>
            </a:srgbClr>
          </a:solidFill>
          <a:ln w="12700" cap="flat" cmpd="sng">
            <a:solidFill>
              <a:srgbClr val="4FD1C5">
                <a:alpha val="60000"/>
              </a:srgbClr>
            </a:solidFill>
            <a:prstDash val="solid"/>
            <a:round/>
          </a:ln>
          <a:effectLst>
            <a:outerShdw blurRad="127000" dist="50800" dir="5400000" algn="tl" rotWithShape="0">
              <a:srgbClr val="2A9D8F">
                <a:alpha val="15000"/>
              </a:srgbClr>
            </a:outerShdw>
          </a:effectLst>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235200"/>
            <a:ext cx="508000" cy="508000"/>
          </a:xfrm>
          <a:prstGeom prst="rect">
            <a:avLst/>
          </a:prstGeom>
        </p:spPr>
      </p:pic>
      <p:sp>
        <p:nvSpPr>
          <p:cNvPr id="12" name="AutoShape 12"/>
          <p:cNvSpPr/>
          <p:nvPr/>
        </p:nvSpPr>
        <p:spPr>
          <a:xfrm>
            <a:off x="5283200" y="2235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64653"/>
                </a:solidFill>
                <a:latin typeface="Noto Sans SC"/>
                <a:ea typeface="Noto Sans SC"/>
                <a:cs typeface="Noto Sans SC"/>
                <a:sym typeface="Noto Sans SC"/>
              </a:rPr>
              <a:t>研究对象</a:t>
            </a:r>
            <a:endParaRPr lang="en-US" sz="1100"/>
          </a:p>
        </p:txBody>
      </p:sp>
      <p:cxnSp>
        <p:nvCxnSpPr>
          <p:cNvPr id="13" name="Connector 13"/>
          <p:cNvCxnSpPr/>
          <p:nvPr/>
        </p:nvCxnSpPr>
        <p:spPr>
          <a:xfrm rot="-15211">
            <a:off x="4648214" y="3054350"/>
            <a:ext cx="2870200" cy="12700"/>
          </a:xfrm>
          <a:prstGeom prst="straightConnector1">
            <a:avLst/>
          </a:prstGeom>
          <a:solidFill>
            <a:srgbClr val="DEE0E3">
              <a:alpha val="100000"/>
            </a:srgbClr>
          </a:solidFill>
          <a:ln w="12700" cap="flat" cmpd="sng">
            <a:solidFill>
              <a:srgbClr val="CBD5E0">
                <a:alpha val="100000"/>
              </a:srgbClr>
            </a:solidFill>
            <a:prstDash val="solid"/>
            <a:round/>
            <a:headEnd type="none" w="med" len="med"/>
            <a:tailEnd type="none" w="med" len="med"/>
          </a:ln>
        </p:spPr>
      </p:cxnSp>
      <p:sp>
        <p:nvSpPr>
          <p:cNvPr id="14" name="AutoShape 14"/>
          <p:cNvSpPr/>
          <p:nvPr/>
        </p:nvSpPr>
        <p:spPr>
          <a:xfrm>
            <a:off x="4648200" y="3175000"/>
            <a:ext cx="28702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374151"/>
                </a:solidFill>
                <a:latin typeface="Noto Sans SC"/>
                <a:ea typeface="Noto Sans SC"/>
                <a:cs typeface="Noto Sans SC"/>
                <a:sym typeface="Noto Sans SC"/>
              </a:rPr>
              <a:t>巨潮资讯网上市公司披露的各类中标公告</a:t>
            </a:r>
            <a:r>
              <a:rPr lang="en-US" sz="1400" b="0" i="0" u="none" strike="noStrike" dirty="0">
                <a:solidFill>
                  <a:srgbClr val="374151"/>
                </a:solidFill>
                <a:latin typeface="Noto Sans SC"/>
                <a:ea typeface="Noto Sans SC"/>
                <a:cs typeface="Noto Sans SC"/>
                <a:sym typeface="Noto Sans SC"/>
              </a:rPr>
              <a:t>。</a:t>
            </a:r>
            <a:endParaRPr lang="en-US" sz="1100" dirty="0"/>
          </a:p>
        </p:txBody>
      </p:sp>
      <p:sp>
        <p:nvSpPr>
          <p:cNvPr id="15" name="AutoShape 15"/>
          <p:cNvSpPr/>
          <p:nvPr/>
        </p:nvSpPr>
        <p:spPr>
          <a:xfrm>
            <a:off x="8026400" y="1917700"/>
            <a:ext cx="3378200" cy="2921000"/>
          </a:xfrm>
          <a:prstGeom prst="roundRect">
            <a:avLst>
              <a:gd name="adj" fmla="val 0"/>
            </a:avLst>
          </a:prstGeom>
          <a:solidFill>
            <a:srgbClr val="FFFFFF">
              <a:alpha val="95000"/>
            </a:srgbClr>
          </a:solidFill>
          <a:ln w="12700" cap="flat" cmpd="sng">
            <a:solidFill>
              <a:srgbClr val="4FD1C5">
                <a:alpha val="60000"/>
              </a:srgbClr>
            </a:solidFill>
            <a:prstDash val="solid"/>
            <a:round/>
          </a:ln>
          <a:effectLst>
            <a:outerShdw blurRad="127000" dist="50800" dir="5400000" algn="tl" rotWithShape="0">
              <a:srgbClr val="2A9D8F">
                <a:alpha val="15000"/>
              </a:srgbClr>
            </a:outerShdw>
          </a:effectLst>
        </p:spPr>
        <p:txBody>
          <a:bodyPr vert="horz" wrap="square" lIns="0" tIns="0" rIns="0" bIns="0" rtlCol="0" anchor="ctr" anchorCtr="0"/>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2235200"/>
            <a:ext cx="508000" cy="508000"/>
          </a:xfrm>
          <a:prstGeom prst="rect">
            <a:avLst/>
          </a:prstGeom>
        </p:spPr>
      </p:pic>
      <p:sp>
        <p:nvSpPr>
          <p:cNvPr id="17" name="AutoShape 17"/>
          <p:cNvSpPr/>
          <p:nvPr/>
        </p:nvSpPr>
        <p:spPr>
          <a:xfrm>
            <a:off x="8915400" y="22352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64653"/>
                </a:solidFill>
                <a:latin typeface="Noto Sans SC"/>
                <a:ea typeface="Noto Sans SC"/>
                <a:cs typeface="Noto Sans SC"/>
                <a:sym typeface="Noto Sans SC"/>
              </a:rPr>
              <a:t>金融问题</a:t>
            </a:r>
            <a:endParaRPr lang="en-US" sz="1100"/>
          </a:p>
        </p:txBody>
      </p:sp>
      <p:cxnSp>
        <p:nvCxnSpPr>
          <p:cNvPr id="18" name="Connector 18"/>
          <p:cNvCxnSpPr/>
          <p:nvPr/>
        </p:nvCxnSpPr>
        <p:spPr>
          <a:xfrm rot="-15211">
            <a:off x="8280414" y="3054350"/>
            <a:ext cx="2870200" cy="12700"/>
          </a:xfrm>
          <a:prstGeom prst="straightConnector1">
            <a:avLst/>
          </a:prstGeom>
          <a:solidFill>
            <a:srgbClr val="DEE0E3">
              <a:alpha val="100000"/>
            </a:srgbClr>
          </a:solidFill>
          <a:ln w="12700" cap="flat" cmpd="sng">
            <a:solidFill>
              <a:srgbClr val="CBD5E0">
                <a:alpha val="100000"/>
              </a:srgbClr>
            </a:solidFill>
            <a:prstDash val="solid"/>
            <a:round/>
            <a:headEnd type="none" w="med" len="med"/>
            <a:tailEnd type="none" w="med" len="med"/>
          </a:ln>
        </p:spPr>
      </p:cxnSp>
      <p:sp>
        <p:nvSpPr>
          <p:cNvPr id="19" name="AutoShape 19"/>
          <p:cNvSpPr/>
          <p:nvPr/>
        </p:nvSpPr>
        <p:spPr>
          <a:xfrm>
            <a:off x="8280400" y="3175000"/>
            <a:ext cx="28702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dirty="0" err="1">
                <a:solidFill>
                  <a:srgbClr val="374151"/>
                </a:solidFill>
                <a:latin typeface="Noto Sans SC"/>
                <a:ea typeface="Noto Sans SC"/>
                <a:cs typeface="Noto Sans SC"/>
                <a:sym typeface="Noto Sans SC"/>
              </a:rPr>
              <a:t>中标公告反映公司新增订单、未来收入可见性、客户来源及履约不确定性，是研究经营质量的重要文本数据</a:t>
            </a:r>
            <a:r>
              <a:rPr lang="en-US" sz="1300" b="0" i="0" u="none" strike="noStrike" dirty="0">
                <a:solidFill>
                  <a:srgbClr val="374151"/>
                </a:solidFill>
                <a:latin typeface="Noto Sans SC"/>
                <a:ea typeface="Noto Sans SC"/>
                <a:cs typeface="Noto Sans SC"/>
                <a:sym typeface="Noto Sans SC"/>
              </a:rPr>
              <a:t>。</a:t>
            </a:r>
            <a:endParaRPr lang="en-US" sz="1100" dirty="0"/>
          </a:p>
        </p:txBody>
      </p:sp>
      <p:sp>
        <p:nvSpPr>
          <p:cNvPr id="20" name="AutoShape 20"/>
          <p:cNvSpPr/>
          <p:nvPr/>
        </p:nvSpPr>
        <p:spPr>
          <a:xfrm>
            <a:off x="736600" y="5308600"/>
            <a:ext cx="10668000" cy="889000"/>
          </a:xfrm>
          <a:prstGeom prst="roundRect">
            <a:avLst>
              <a:gd name="adj" fmla="val 0"/>
            </a:avLst>
          </a:prstGeom>
          <a:solidFill>
            <a:srgbClr val="E6F5F4">
              <a:alpha val="100000"/>
            </a:srgbClr>
          </a:solidFill>
          <a:ln w="25400" cap="flat" cmpd="sng">
            <a:noFill/>
            <a:prstDash val="solid"/>
            <a:round/>
          </a:ln>
        </p:spPr>
        <p:txBody>
          <a:bodyPr vert="horz" wrap="square" lIns="0" tIns="0" rIns="0" bIns="0" rtlCol="0" anchor="ctr" anchorCtr="0"/>
          <a:lstStyle/>
          <a:p>
            <a:pPr algn="ctr">
              <a:defRPr/>
            </a:pPr>
            <a:endParaRPr dirty="0"/>
          </a:p>
        </p:txBody>
      </p:sp>
      <p:sp>
        <p:nvSpPr>
          <p:cNvPr id="22" name="AutoShape 22"/>
          <p:cNvSpPr/>
          <p:nvPr/>
        </p:nvSpPr>
        <p:spPr>
          <a:xfrm>
            <a:off x="908050" y="53086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1F2329"/>
                </a:solidFill>
                <a:latin typeface="Noto Sans SC"/>
                <a:ea typeface="Noto Sans SC"/>
                <a:cs typeface="Noto Sans SC"/>
                <a:sym typeface="Noto Sans SC"/>
              </a:rPr>
              <a:t>项目目标：将项目名称、招标人、中标阶段、金额原文、风险提示等信息转化为结构化字段，形成可追溯、可比较的事件台账</a:t>
            </a:r>
            <a:r>
              <a:rPr lang="en-US" sz="1400" b="0" i="0" u="none" strike="noStrike" dirty="0">
                <a:solidFill>
                  <a:srgbClr val="1F2329"/>
                </a:solidFill>
                <a:latin typeface="Noto Sans SC"/>
                <a:ea typeface="Noto Sans SC"/>
                <a:cs typeface="Noto Sans SC"/>
                <a:sym typeface="Noto Sans SC"/>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762000" y="2017409"/>
            <a:ext cx="5080000" cy="1905000"/>
          </a:xfrm>
          <a:prstGeom prst="roundRect">
            <a:avLst>
              <a:gd name="adj" fmla="val 8000"/>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304800" tIns="304800" rIns="304800" bIns="304800" rtlCol="0" anchor="ctr" anchorCtr="0"/>
          <a:lstStyle/>
          <a:p>
            <a:pPr indent="0" algn="ctr">
              <a:lnSpc>
                <a:spcPct val="125000"/>
              </a:lnSpc>
              <a:defRPr/>
            </a:pPr>
            <a:r>
              <a:rPr lang="en-US" sz="1800" b="1" i="0" u="none" strike="noStrike" dirty="0" err="1">
                <a:solidFill>
                  <a:srgbClr val="1F2329"/>
                </a:solidFill>
                <a:latin typeface="Noto Sans SC"/>
                <a:ea typeface="Noto Sans SC"/>
                <a:cs typeface="Noto Sans SC"/>
                <a:sym typeface="Noto Sans SC"/>
              </a:rPr>
              <a:t>数据入口</a:t>
            </a:r>
            <a:endParaRPr lang="en-US" sz="1100" dirty="0"/>
          </a:p>
          <a:p>
            <a:pPr indent="0" algn="ctr">
              <a:lnSpc>
                <a:spcPct val="125000"/>
              </a:lnSpc>
            </a:pPr>
            <a:r>
              <a:rPr lang="en-US" sz="1400" b="0" i="0" u="none" strike="noStrike" dirty="0" err="1">
                <a:solidFill>
                  <a:srgbClr val="6B7280"/>
                </a:solidFill>
                <a:latin typeface="Noto Sans SC"/>
                <a:ea typeface="Noto Sans SC"/>
                <a:cs typeface="Noto Sans SC"/>
                <a:sym typeface="Noto Sans SC"/>
              </a:rPr>
              <a:t>巨潮资讯网公开公告检索系统</a:t>
            </a:r>
            <a:endParaRPr lang="en-US" sz="1400" b="0" i="0" u="none" strike="noStrike" dirty="0">
              <a:solidFill>
                <a:srgbClr val="6B7280"/>
              </a:solidFill>
              <a:latin typeface="Noto Sans SC"/>
              <a:ea typeface="Noto Sans SC"/>
              <a:cs typeface="Noto Sans SC"/>
              <a:sym typeface="Noto Sans SC"/>
            </a:endParaRPr>
          </a:p>
        </p:txBody>
      </p:sp>
      <p:sp>
        <p:nvSpPr>
          <p:cNvPr id="5" name="AutoShape 5"/>
          <p:cNvSpPr/>
          <p:nvPr/>
        </p:nvSpPr>
        <p:spPr>
          <a:xfrm>
            <a:off x="6350000" y="2017409"/>
            <a:ext cx="5080000" cy="1905000"/>
          </a:xfrm>
          <a:prstGeom prst="roundRect">
            <a:avLst>
              <a:gd name="adj" fmla="val 8000"/>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304800" tIns="304800" rIns="304800" bIns="304800" rtlCol="0" anchor="ctr" anchorCtr="0"/>
          <a:lstStyle/>
          <a:p>
            <a:pPr indent="0" algn="ctr">
              <a:lnSpc>
                <a:spcPct val="125000"/>
              </a:lnSpc>
              <a:defRPr/>
            </a:pPr>
            <a:r>
              <a:rPr lang="en-US" sz="1800" b="1" i="0" u="none" strike="noStrike">
                <a:solidFill>
                  <a:srgbClr val="1F2329"/>
                </a:solidFill>
                <a:latin typeface="Noto Sans SC"/>
                <a:ea typeface="Noto Sans SC"/>
                <a:cs typeface="Noto Sans SC"/>
                <a:sym typeface="Noto Sans SC"/>
              </a:rPr>
              <a:t>时间范围</a:t>
            </a:r>
            <a:endParaRPr lang="en-US" sz="1100"/>
          </a:p>
          <a:p>
            <a:pPr indent="0" algn="ctr">
              <a:lnSpc>
                <a:spcPct val="125000"/>
              </a:lnSpc>
            </a:pPr>
            <a:r>
              <a:rPr lang="en-US" sz="1400" b="0" i="0" u="none" strike="noStrike">
                <a:solidFill>
                  <a:srgbClr val="6B7280"/>
                </a:solidFill>
                <a:latin typeface="Noto Sans SC"/>
                <a:ea typeface="Noto Sans SC"/>
                <a:cs typeface="Noto Sans SC"/>
                <a:sym typeface="Noto Sans SC"/>
              </a:rPr>
              <a:t>2024-01-01 至 2026-05-29</a:t>
            </a:r>
          </a:p>
        </p:txBody>
      </p:sp>
      <p:sp>
        <p:nvSpPr>
          <p:cNvPr id="6" name="AutoShape 6"/>
          <p:cNvSpPr/>
          <p:nvPr/>
        </p:nvSpPr>
        <p:spPr>
          <a:xfrm>
            <a:off x="762000" y="4176409"/>
            <a:ext cx="5080000" cy="1905000"/>
          </a:xfrm>
          <a:prstGeom prst="roundRect">
            <a:avLst>
              <a:gd name="adj" fmla="val 8000"/>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304800" tIns="304800" rIns="304800" bIns="304800" rtlCol="0" anchor="ctr" anchorCtr="0"/>
          <a:lstStyle/>
          <a:p>
            <a:pPr indent="0" algn="ctr">
              <a:lnSpc>
                <a:spcPct val="125000"/>
              </a:lnSpc>
              <a:defRPr/>
            </a:pPr>
            <a:r>
              <a:rPr lang="en-US" sz="1800" b="1" i="0" u="none" strike="noStrike" dirty="0" err="1">
                <a:solidFill>
                  <a:srgbClr val="1F2329"/>
                </a:solidFill>
                <a:latin typeface="Noto Sans SC"/>
                <a:ea typeface="Noto Sans SC"/>
                <a:cs typeface="Noto Sans SC"/>
                <a:sym typeface="Noto Sans SC"/>
              </a:rPr>
              <a:t>样本规模</a:t>
            </a:r>
            <a:endParaRPr lang="en-US" sz="1100" dirty="0"/>
          </a:p>
          <a:p>
            <a:pPr indent="0" algn="ctr">
              <a:lnSpc>
                <a:spcPct val="125000"/>
              </a:lnSpc>
            </a:pPr>
            <a:r>
              <a:rPr lang="en-US" sz="1400" b="0" i="0" u="none" strike="noStrike" dirty="0">
                <a:solidFill>
                  <a:srgbClr val="6B7280"/>
                </a:solidFill>
                <a:latin typeface="Noto Sans SC"/>
                <a:ea typeface="Noto Sans SC"/>
                <a:cs typeface="Noto Sans SC"/>
                <a:sym typeface="Noto Sans SC"/>
              </a:rPr>
              <a:t>已抓取80条真实metadata，并成功下载80份对应PDF</a:t>
            </a:r>
          </a:p>
        </p:txBody>
      </p:sp>
      <p:sp>
        <p:nvSpPr>
          <p:cNvPr id="7" name="AutoShape 7"/>
          <p:cNvSpPr/>
          <p:nvPr/>
        </p:nvSpPr>
        <p:spPr>
          <a:xfrm>
            <a:off x="6350000" y="4176409"/>
            <a:ext cx="5080000" cy="1905000"/>
          </a:xfrm>
          <a:prstGeom prst="roundRect">
            <a:avLst>
              <a:gd name="adj" fmla="val 8000"/>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304800" tIns="304800" rIns="304800" bIns="304800" rtlCol="0" anchor="ctr" anchorCtr="0"/>
          <a:lstStyle/>
          <a:p>
            <a:pPr indent="0" algn="ctr">
              <a:lnSpc>
                <a:spcPct val="125000"/>
              </a:lnSpc>
              <a:defRPr/>
            </a:pPr>
            <a:r>
              <a:rPr lang="en-US" sz="1800" b="1" i="0" u="none" strike="noStrike" dirty="0" err="1">
                <a:solidFill>
                  <a:srgbClr val="1F2329"/>
                </a:solidFill>
                <a:latin typeface="Noto Sans SC"/>
                <a:ea typeface="Noto Sans SC"/>
                <a:cs typeface="Noto Sans SC"/>
                <a:sym typeface="Noto Sans SC"/>
              </a:rPr>
              <a:t>展示样本</a:t>
            </a:r>
            <a:endParaRPr lang="en-US" sz="1100" dirty="0"/>
          </a:p>
          <a:p>
            <a:pPr indent="0" algn="ctr">
              <a:lnSpc>
                <a:spcPct val="125000"/>
              </a:lnSpc>
            </a:pPr>
            <a:r>
              <a:rPr lang="en-US" sz="1400" b="0" i="0" u="none" strike="noStrike" dirty="0">
                <a:solidFill>
                  <a:srgbClr val="6B7280"/>
                </a:solidFill>
                <a:latin typeface="Noto Sans SC"/>
                <a:ea typeface="Noto Sans SC"/>
                <a:cs typeface="Noto Sans SC"/>
                <a:sym typeface="Noto Sans SC"/>
              </a:rPr>
              <a:t>重点展示ST交投2025-04-12《关于收到中标通知书的公告》的完整证据链</a:t>
            </a:r>
          </a:p>
        </p:txBody>
      </p:sp>
      <p:sp>
        <p:nvSpPr>
          <p:cNvPr id="8" name="AutoShape 3">
            <a:extLst>
              <a:ext uri="{FF2B5EF4-FFF2-40B4-BE49-F238E27FC236}">
                <a16:creationId xmlns:a16="http://schemas.microsoft.com/office/drawing/2014/main" id="{77E7DBCA-76C9-C968-1E4B-C3ACCCF7F242}"/>
              </a:ext>
            </a:extLst>
          </p:cNvPr>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800" b="1" i="0" u="none" strike="noStrike" dirty="0">
                <a:solidFill>
                  <a:srgbClr val="2D3748"/>
                </a:solidFill>
                <a:latin typeface="Noto Sans SC"/>
                <a:ea typeface="Noto Sans SC"/>
                <a:cs typeface="Noto Sans SC"/>
                <a:sym typeface="Noto Sans SC"/>
              </a:rPr>
              <a:t>02 </a:t>
            </a:r>
            <a:r>
              <a:rPr lang="zh-CN" altLang="en-US" sz="2800" b="1" i="0" u="none" strike="noStrike" dirty="0">
                <a:solidFill>
                  <a:srgbClr val="2D3748"/>
                </a:solidFill>
                <a:latin typeface="Noto Sans SC"/>
                <a:ea typeface="Noto Sans SC"/>
                <a:cs typeface="Noto Sans SC"/>
                <a:sym typeface="Noto Sans SC"/>
              </a:rPr>
              <a:t>巨潮数据来源</a:t>
            </a:r>
          </a:p>
        </p:txBody>
      </p:sp>
      <p:sp>
        <p:nvSpPr>
          <p:cNvPr id="9" name="AutoShape 4">
            <a:extLst>
              <a:ext uri="{FF2B5EF4-FFF2-40B4-BE49-F238E27FC236}">
                <a16:creationId xmlns:a16="http://schemas.microsoft.com/office/drawing/2014/main" id="{4C5715BB-55E9-63E8-FF87-8F210AAF549F}"/>
              </a:ext>
            </a:extLst>
          </p:cNvPr>
          <p:cNvSpPr/>
          <p:nvPr/>
        </p:nvSpPr>
        <p:spPr>
          <a:xfrm>
            <a:off x="762000" y="1333500"/>
            <a:ext cx="1270000" cy="50800"/>
          </a:xfrm>
          <a:prstGeom prst="roundRect">
            <a:avLst>
              <a:gd name="adj" fmla="val 0"/>
            </a:avLst>
          </a:prstGeom>
          <a:solidFill>
            <a:srgbClr val="2A9D8F">
              <a:alpha val="100000"/>
            </a:srgbClr>
          </a:solidFill>
          <a:ln w="25400" cap="flat" cmpd="sng">
            <a:noFill/>
            <a:prstDash val="solid"/>
            <a:round/>
          </a:ln>
        </p:spPr>
        <p:txBody>
          <a:bodyPr vert="horz" wrap="square" lIns="0" tIns="0" rIns="0" bIns="0" rtlCol="0" anchor="ctr" anchorCtr="0"/>
          <a:lstStyle/>
          <a:p>
            <a:pPr algn="ctr">
              <a:defRPr/>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8FA">
              <a:alpha val="96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762000" y="16383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2D3748"/>
                </a:solidFill>
                <a:latin typeface="Noto Sans SC"/>
                <a:ea typeface="Noto Sans SC"/>
                <a:cs typeface="Noto Sans SC"/>
                <a:sym typeface="Noto Sans SC"/>
              </a:rPr>
              <a:t>申请难度：标准档</a:t>
            </a:r>
            <a:r>
              <a:rPr lang="en-US" sz="2000" b="1" i="0" u="none" strike="noStrike" dirty="0">
                <a:solidFill>
                  <a:srgbClr val="2D3748"/>
                </a:solidFill>
                <a:latin typeface="Noto Sans SC"/>
                <a:ea typeface="Noto Sans SC"/>
                <a:cs typeface="Noto Sans SC"/>
                <a:sym typeface="Noto Sans SC"/>
              </a:rPr>
              <a:t> 1.0</a:t>
            </a:r>
            <a:endParaRPr lang="en-US" sz="2000" dirty="0"/>
          </a:p>
        </p:txBody>
      </p:sp>
      <p:sp>
        <p:nvSpPr>
          <p:cNvPr id="5" name="AutoShape 5"/>
          <p:cNvSpPr/>
          <p:nvPr/>
        </p:nvSpPr>
        <p:spPr>
          <a:xfrm>
            <a:off x="762000" y="2400300"/>
            <a:ext cx="10668000" cy="762000"/>
          </a:xfrm>
          <a:prstGeom prst="roundRect">
            <a:avLst>
              <a:gd name="adj" fmla="val 13333"/>
            </a:avLst>
          </a:prstGeom>
          <a:solidFill>
            <a:srgbClr val="FFFFFF">
              <a:alpha val="100000"/>
            </a:srgbClr>
          </a:solidFill>
          <a:ln w="12700" cap="flat" cmpd="sng">
            <a:solidFill>
              <a:srgbClr val="E2E8F0">
                <a:alpha val="100000"/>
              </a:srgbClr>
            </a:solidFill>
            <a:prstDash val="solid"/>
            <a:round/>
          </a:ln>
        </p:spPr>
        <p:txBody>
          <a:bodyPr vert="horz" wrap="square" lIns="254000" tIns="0" rIns="254000" bIns="0" rtlCol="0" anchor="ctr" anchorCtr="0"/>
          <a:lstStyle/>
          <a:p>
            <a:pPr indent="0" algn="ctr">
              <a:lnSpc>
                <a:spcPct val="125000"/>
              </a:lnSpc>
              <a:defRPr/>
            </a:pPr>
            <a:r>
              <a:rPr lang="en-US" sz="2200" b="0" i="0" u="none" strike="noStrike" dirty="0">
                <a:solidFill>
                  <a:srgbClr val="3B82F6"/>
                </a:solidFill>
                <a:latin typeface="Noto Sans SC"/>
                <a:ea typeface="Noto Sans SC"/>
                <a:cs typeface="Noto Sans SC"/>
                <a:sym typeface="Noto Sans SC"/>
              </a:rPr>
              <a:t>📊</a:t>
            </a:r>
            <a:r>
              <a:rPr lang="en-US" sz="1600" b="0" i="0" u="none" strike="noStrike" dirty="0">
                <a:solidFill>
                  <a:srgbClr val="2D3748"/>
                </a:solidFill>
                <a:latin typeface="Noto Sans SC"/>
                <a:ea typeface="Noto Sans SC"/>
                <a:cs typeface="Noto Sans SC"/>
                <a:sym typeface="Noto Sans SC"/>
              </a:rPr>
              <a:t>数据规模达到80份PDF</a:t>
            </a:r>
            <a:endParaRPr lang="en-US" sz="1100" dirty="0"/>
          </a:p>
        </p:txBody>
      </p:sp>
      <p:sp>
        <p:nvSpPr>
          <p:cNvPr id="6" name="AutoShape 6"/>
          <p:cNvSpPr/>
          <p:nvPr/>
        </p:nvSpPr>
        <p:spPr>
          <a:xfrm>
            <a:off x="762000" y="3416300"/>
            <a:ext cx="10668000" cy="762000"/>
          </a:xfrm>
          <a:prstGeom prst="roundRect">
            <a:avLst>
              <a:gd name="adj" fmla="val 13333"/>
            </a:avLst>
          </a:prstGeom>
          <a:solidFill>
            <a:srgbClr val="FFFFFF">
              <a:alpha val="100000"/>
            </a:srgbClr>
          </a:solidFill>
          <a:ln w="12700" cap="flat" cmpd="sng">
            <a:solidFill>
              <a:srgbClr val="E2E8F0">
                <a:alpha val="100000"/>
              </a:srgbClr>
            </a:solidFill>
            <a:prstDash val="solid"/>
            <a:round/>
          </a:ln>
        </p:spPr>
        <p:txBody>
          <a:bodyPr vert="horz" wrap="square" lIns="254000" tIns="0" rIns="254000" bIns="0" rtlCol="0" anchor="ctr" anchorCtr="0"/>
          <a:lstStyle/>
          <a:p>
            <a:pPr indent="0" algn="ctr">
              <a:lnSpc>
                <a:spcPct val="125000"/>
              </a:lnSpc>
              <a:defRPr/>
            </a:pPr>
            <a:r>
              <a:rPr lang="en-US" sz="2200" b="0" i="0" u="none" strike="noStrike" dirty="0">
                <a:solidFill>
                  <a:srgbClr val="10B981"/>
                </a:solidFill>
                <a:latin typeface="Noto Sans SC"/>
                <a:ea typeface="Noto Sans SC"/>
                <a:cs typeface="Noto Sans SC"/>
                <a:sym typeface="Noto Sans SC"/>
              </a:rPr>
              <a:t>🎯</a:t>
            </a:r>
            <a:r>
              <a:rPr lang="en-US" sz="1600" b="0" i="0" u="none" strike="noStrike" dirty="0">
                <a:solidFill>
                  <a:srgbClr val="2D3748"/>
                </a:solidFill>
                <a:latin typeface="Noto Sans SC"/>
                <a:ea typeface="Noto Sans SC"/>
                <a:cs typeface="Noto Sans SC"/>
                <a:sym typeface="Noto Sans SC"/>
              </a:rPr>
              <a:t>设计了8个核心字段</a:t>
            </a:r>
            <a:endParaRPr lang="en-US" sz="1100" dirty="0"/>
          </a:p>
        </p:txBody>
      </p:sp>
      <p:sp>
        <p:nvSpPr>
          <p:cNvPr id="7" name="AutoShape 7"/>
          <p:cNvSpPr/>
          <p:nvPr/>
        </p:nvSpPr>
        <p:spPr>
          <a:xfrm>
            <a:off x="762000" y="4432300"/>
            <a:ext cx="10668000" cy="762000"/>
          </a:xfrm>
          <a:prstGeom prst="roundRect">
            <a:avLst>
              <a:gd name="adj" fmla="val 13333"/>
            </a:avLst>
          </a:prstGeom>
          <a:solidFill>
            <a:srgbClr val="FFFFFF">
              <a:alpha val="100000"/>
            </a:srgbClr>
          </a:solidFill>
          <a:ln w="12700" cap="flat" cmpd="sng">
            <a:solidFill>
              <a:srgbClr val="E2E8F0">
                <a:alpha val="100000"/>
              </a:srgbClr>
            </a:solidFill>
            <a:prstDash val="solid"/>
            <a:round/>
          </a:ln>
        </p:spPr>
        <p:txBody>
          <a:bodyPr vert="horz" wrap="square" lIns="254000" tIns="0" rIns="254000" bIns="0" rtlCol="0" anchor="ctr" anchorCtr="0"/>
          <a:lstStyle/>
          <a:p>
            <a:pPr indent="0" algn="ctr">
              <a:lnSpc>
                <a:spcPct val="125000"/>
              </a:lnSpc>
              <a:defRPr/>
            </a:pPr>
            <a:r>
              <a:rPr lang="en-US" sz="2200" b="0" i="0" u="none" strike="noStrike" dirty="0">
                <a:solidFill>
                  <a:srgbClr val="F59E0B"/>
                </a:solidFill>
                <a:latin typeface="Noto Sans SC"/>
                <a:ea typeface="Noto Sans SC"/>
                <a:cs typeface="Noto Sans SC"/>
                <a:sym typeface="Noto Sans SC"/>
              </a:rPr>
              <a:t>🔧</a:t>
            </a:r>
            <a:r>
              <a:rPr lang="en-US" sz="1600" b="0" i="0" u="none" strike="noStrike" dirty="0" err="1">
                <a:solidFill>
                  <a:srgbClr val="2D3748"/>
                </a:solidFill>
                <a:latin typeface="Noto Sans SC"/>
                <a:ea typeface="Noto Sans SC"/>
                <a:cs typeface="Noto Sans SC"/>
                <a:sym typeface="Noto Sans SC"/>
              </a:rPr>
              <a:t>包含section检查、evidence回填、Pydantic校验、人工评估等高级功能</a:t>
            </a:r>
            <a:endParaRPr lang="en-US" sz="1100" dirty="0"/>
          </a:p>
        </p:txBody>
      </p:sp>
      <p:sp>
        <p:nvSpPr>
          <p:cNvPr id="8" name="AutoShape 8"/>
          <p:cNvSpPr/>
          <p:nvPr/>
        </p:nvSpPr>
        <p:spPr>
          <a:xfrm>
            <a:off x="762000" y="5448300"/>
            <a:ext cx="10668000" cy="762000"/>
          </a:xfrm>
          <a:prstGeom prst="roundRect">
            <a:avLst>
              <a:gd name="adj" fmla="val 13333"/>
            </a:avLst>
          </a:prstGeom>
          <a:solidFill>
            <a:srgbClr val="FFFFFF">
              <a:alpha val="100000"/>
            </a:srgbClr>
          </a:solidFill>
          <a:ln w="12700" cap="flat" cmpd="sng">
            <a:solidFill>
              <a:srgbClr val="E2E8F0">
                <a:alpha val="100000"/>
              </a:srgbClr>
            </a:solidFill>
            <a:prstDash val="solid"/>
            <a:round/>
          </a:ln>
        </p:spPr>
        <p:txBody>
          <a:bodyPr vert="horz" wrap="square" lIns="254000" tIns="0" rIns="254000" bIns="0" rtlCol="0" anchor="ctr" anchorCtr="0"/>
          <a:lstStyle/>
          <a:p>
            <a:pPr indent="0" algn="ctr">
              <a:lnSpc>
                <a:spcPct val="125000"/>
              </a:lnSpc>
              <a:defRPr/>
            </a:pPr>
            <a:r>
              <a:rPr lang="en-US" sz="2000" b="0" i="0" u="none" strike="noStrike" dirty="0">
                <a:solidFill>
                  <a:srgbClr val="8B5CF6"/>
                </a:solidFill>
                <a:latin typeface="Noto Sans SC"/>
                <a:ea typeface="Noto Sans SC"/>
                <a:cs typeface="Noto Sans SC"/>
                <a:sym typeface="Noto Sans SC"/>
              </a:rPr>
              <a:t>🧩</a:t>
            </a:r>
            <a:r>
              <a:rPr lang="en-US" sz="1500" b="0" i="0" u="none" strike="noStrike" dirty="0" err="1">
                <a:solidFill>
                  <a:srgbClr val="2D3748"/>
                </a:solidFill>
                <a:latin typeface="Noto Sans SC"/>
                <a:ea typeface="Noto Sans SC"/>
                <a:cs typeface="Noto Sans SC"/>
                <a:sym typeface="Noto Sans SC"/>
              </a:rPr>
              <a:t>公告在标题、金额表达和风险提示写法上差异较大，具有一定工程复杂度</a:t>
            </a:r>
            <a:endParaRPr lang="en-US" sz="1100" dirty="0"/>
          </a:p>
        </p:txBody>
      </p:sp>
      <p:sp>
        <p:nvSpPr>
          <p:cNvPr id="9" name="AutoShape 3">
            <a:extLst>
              <a:ext uri="{FF2B5EF4-FFF2-40B4-BE49-F238E27FC236}">
                <a16:creationId xmlns:a16="http://schemas.microsoft.com/office/drawing/2014/main" id="{FD93A9A7-6324-9FEF-1427-E35CF62A1B4F}"/>
              </a:ext>
            </a:extLst>
          </p:cNvPr>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800" b="1" i="0" u="none" strike="noStrike" dirty="0">
                <a:solidFill>
                  <a:srgbClr val="2D3748"/>
                </a:solidFill>
                <a:latin typeface="Noto Sans SC"/>
                <a:ea typeface="Noto Sans SC"/>
                <a:cs typeface="Noto Sans SC"/>
                <a:sym typeface="Noto Sans SC"/>
              </a:rPr>
              <a:t>03 </a:t>
            </a:r>
            <a:r>
              <a:rPr lang="zh-CN" altLang="en-US" sz="2800" b="1" i="0" u="none" strike="noStrike" dirty="0">
                <a:solidFill>
                  <a:srgbClr val="2D3748"/>
                </a:solidFill>
                <a:latin typeface="Noto Sans SC"/>
                <a:ea typeface="Noto Sans SC"/>
                <a:cs typeface="Noto Sans SC"/>
                <a:sym typeface="Noto Sans SC"/>
              </a:rPr>
              <a:t>难度档位</a:t>
            </a:r>
          </a:p>
        </p:txBody>
      </p:sp>
      <p:sp>
        <p:nvSpPr>
          <p:cNvPr id="10" name="AutoShape 4">
            <a:extLst>
              <a:ext uri="{FF2B5EF4-FFF2-40B4-BE49-F238E27FC236}">
                <a16:creationId xmlns:a16="http://schemas.microsoft.com/office/drawing/2014/main" id="{70C4DA68-74F1-3F44-CCBF-601BAE8C3870}"/>
              </a:ext>
            </a:extLst>
          </p:cNvPr>
          <p:cNvSpPr/>
          <p:nvPr/>
        </p:nvSpPr>
        <p:spPr>
          <a:xfrm>
            <a:off x="762000" y="1333500"/>
            <a:ext cx="1270000" cy="50800"/>
          </a:xfrm>
          <a:prstGeom prst="roundRect">
            <a:avLst>
              <a:gd name="adj" fmla="val 0"/>
            </a:avLst>
          </a:prstGeom>
          <a:solidFill>
            <a:srgbClr val="2A9D8F">
              <a:alpha val="100000"/>
            </a:srgbClr>
          </a:solidFill>
          <a:ln w="25400" cap="flat" cmpd="sng">
            <a:noFill/>
            <a:prstDash val="solid"/>
            <a:round/>
          </a:ln>
        </p:spPr>
        <p:txBody>
          <a:bodyPr vert="horz" wrap="square" lIns="0" tIns="0" rIns="0" bIns="0" rtlCol="0" anchor="ctr" anchorCtr="0"/>
          <a:lstStyle/>
          <a:p>
            <a:pPr algn="ctr">
              <a:defRPr/>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2019300"/>
            <a:ext cx="3302000" cy="1905000"/>
          </a:xfrm>
          <a:prstGeom prst="roundRect">
            <a:avLst>
              <a:gd name="adj" fmla="val 8000"/>
            </a:avLst>
          </a:prstGeom>
          <a:solidFill>
            <a:srgbClr val="F0FDFA">
              <a:alpha val="100000"/>
            </a:srgbClr>
          </a:solidFill>
          <a:ln w="12700" cap="flat" cmpd="sng">
            <a:solidFill>
              <a:srgbClr val="CCFBF1">
                <a:alpha val="100000"/>
              </a:srgbClr>
            </a:solidFill>
            <a:prstDash val="solid"/>
            <a:round/>
          </a:ln>
        </p:spPr>
        <p:txBody>
          <a:bodyPr vert="horz" wrap="square" lIns="254000" tIns="254000" rIns="254000" bIns="254000" rtlCol="0" anchor="ctr" anchorCtr="0"/>
          <a:lstStyle/>
          <a:p>
            <a:pPr indent="0" algn="ctr">
              <a:lnSpc>
                <a:spcPct val="125000"/>
              </a:lnSpc>
              <a:defRPr/>
            </a:pPr>
            <a:r>
              <a:rPr lang="en-US" sz="1600" b="1" i="0" u="none" strike="noStrike" dirty="0" err="1">
                <a:solidFill>
                  <a:srgbClr val="0D9488"/>
                </a:solidFill>
                <a:latin typeface="Noto Sans SC"/>
                <a:ea typeface="Noto Sans SC"/>
                <a:cs typeface="Noto Sans SC"/>
                <a:sym typeface="Noto Sans SC"/>
              </a:rPr>
              <a:t>核心字段</a:t>
            </a:r>
            <a:endParaRPr lang="en-US" sz="1100" dirty="0"/>
          </a:p>
          <a:p>
            <a:pPr indent="0" algn="ctr">
              <a:lnSpc>
                <a:spcPct val="125000"/>
              </a:lnSpc>
            </a:pPr>
            <a:r>
              <a:rPr lang="en-US" sz="1400" b="0" i="0" u="none" strike="noStrike" dirty="0" err="1">
                <a:solidFill>
                  <a:srgbClr val="4B5563"/>
                </a:solidFill>
                <a:latin typeface="Noto Sans SC"/>
                <a:ea typeface="Noto Sans SC"/>
                <a:cs typeface="Noto Sans SC"/>
                <a:sym typeface="Noto Sans SC"/>
              </a:rPr>
              <a:t>company_name</a:t>
            </a:r>
            <a:r>
              <a:rPr lang="en-US" sz="1400" b="0" i="0" u="none" strike="noStrike" dirty="0">
                <a:solidFill>
                  <a:srgbClr val="4B5563"/>
                </a:solidFill>
                <a:latin typeface="Noto Sans SC"/>
                <a:ea typeface="Noto Sans SC"/>
                <a:cs typeface="Noto Sans SC"/>
                <a:sym typeface="Noto Sans SC"/>
              </a:rPr>
              <a:t>, </a:t>
            </a:r>
            <a:r>
              <a:rPr lang="en-US" sz="1400" b="0" i="0" u="none" strike="noStrike" dirty="0" err="1">
                <a:solidFill>
                  <a:srgbClr val="4B5563"/>
                </a:solidFill>
                <a:latin typeface="Noto Sans SC"/>
                <a:ea typeface="Noto Sans SC"/>
                <a:cs typeface="Noto Sans SC"/>
                <a:sym typeface="Noto Sans SC"/>
              </a:rPr>
              <a:t>stock_code</a:t>
            </a:r>
            <a:r>
              <a:rPr lang="en-US" sz="1400" b="0" i="0" u="none" strike="noStrike" dirty="0">
                <a:solidFill>
                  <a:srgbClr val="4B5563"/>
                </a:solidFill>
                <a:latin typeface="Noto Sans SC"/>
                <a:ea typeface="Noto Sans SC"/>
                <a:cs typeface="Noto Sans SC"/>
                <a:sym typeface="Noto Sans SC"/>
              </a:rPr>
              <a:t>, </a:t>
            </a:r>
            <a:r>
              <a:rPr lang="en-US" sz="1400" b="0" i="0" u="none" strike="noStrike" dirty="0" err="1">
                <a:solidFill>
                  <a:srgbClr val="4B5563"/>
                </a:solidFill>
                <a:latin typeface="Noto Sans SC"/>
                <a:ea typeface="Noto Sans SC"/>
                <a:cs typeface="Noto Sans SC"/>
                <a:sym typeface="Noto Sans SC"/>
              </a:rPr>
              <a:t>announcement_date</a:t>
            </a:r>
            <a:r>
              <a:rPr lang="en-US" sz="1400" b="0" i="0" u="none" strike="noStrike" dirty="0">
                <a:solidFill>
                  <a:srgbClr val="4B5563"/>
                </a:solidFill>
                <a:latin typeface="Noto Sans SC"/>
                <a:ea typeface="Noto Sans SC"/>
                <a:cs typeface="Noto Sans SC"/>
                <a:sym typeface="Noto Sans SC"/>
              </a:rPr>
              <a:t>, </a:t>
            </a:r>
            <a:r>
              <a:rPr lang="en-US" sz="1400" b="0" i="0" u="none" strike="noStrike" dirty="0" err="1">
                <a:solidFill>
                  <a:srgbClr val="4B5563"/>
                </a:solidFill>
                <a:latin typeface="Noto Sans SC"/>
                <a:ea typeface="Noto Sans SC"/>
                <a:cs typeface="Noto Sans SC"/>
                <a:sym typeface="Noto Sans SC"/>
              </a:rPr>
              <a:t>project_name</a:t>
            </a:r>
            <a:r>
              <a:rPr lang="en-US" sz="1400" b="0" i="0" u="none" strike="noStrike" dirty="0">
                <a:solidFill>
                  <a:srgbClr val="4B5563"/>
                </a:solidFill>
                <a:latin typeface="Noto Sans SC"/>
                <a:ea typeface="Noto Sans SC"/>
                <a:cs typeface="Noto Sans SC"/>
                <a:sym typeface="Noto Sans SC"/>
              </a:rPr>
              <a:t>, counterparty, </a:t>
            </a:r>
            <a:r>
              <a:rPr lang="en-US" sz="1400" b="0" i="0" u="none" strike="noStrike" dirty="0" err="1">
                <a:solidFill>
                  <a:srgbClr val="4B5563"/>
                </a:solidFill>
                <a:latin typeface="Noto Sans SC"/>
                <a:ea typeface="Noto Sans SC"/>
                <a:cs typeface="Noto Sans SC"/>
                <a:sym typeface="Noto Sans SC"/>
              </a:rPr>
              <a:t>project_stage</a:t>
            </a:r>
            <a:r>
              <a:rPr lang="en-US" sz="1400" b="0" i="0" u="none" strike="noStrike" dirty="0">
                <a:solidFill>
                  <a:srgbClr val="4B5563"/>
                </a:solidFill>
                <a:latin typeface="Noto Sans SC"/>
                <a:ea typeface="Noto Sans SC"/>
                <a:cs typeface="Noto Sans SC"/>
                <a:sym typeface="Noto Sans SC"/>
              </a:rPr>
              <a:t>, </a:t>
            </a:r>
            <a:r>
              <a:rPr lang="en-US" sz="1400" b="0" i="0" u="none" strike="noStrike" dirty="0" err="1">
                <a:solidFill>
                  <a:srgbClr val="4B5563"/>
                </a:solidFill>
                <a:latin typeface="Noto Sans SC"/>
                <a:ea typeface="Noto Sans SC"/>
                <a:cs typeface="Noto Sans SC"/>
                <a:sym typeface="Noto Sans SC"/>
              </a:rPr>
              <a:t>bid_amount_text</a:t>
            </a:r>
            <a:r>
              <a:rPr lang="en-US" sz="1400" b="0" i="0" u="none" strike="noStrike" dirty="0">
                <a:solidFill>
                  <a:srgbClr val="4B5563"/>
                </a:solidFill>
                <a:latin typeface="Noto Sans SC"/>
                <a:ea typeface="Noto Sans SC"/>
                <a:cs typeface="Noto Sans SC"/>
                <a:sym typeface="Noto Sans SC"/>
              </a:rPr>
              <a:t>, </a:t>
            </a:r>
            <a:r>
              <a:rPr lang="en-US" sz="1400" b="0" i="0" u="none" strike="noStrike" dirty="0" err="1">
                <a:solidFill>
                  <a:srgbClr val="4B5563"/>
                </a:solidFill>
                <a:latin typeface="Noto Sans SC"/>
                <a:ea typeface="Noto Sans SC"/>
                <a:cs typeface="Noto Sans SC"/>
                <a:sym typeface="Noto Sans SC"/>
              </a:rPr>
              <a:t>risk_notice</a:t>
            </a:r>
            <a:endParaRPr lang="en-US" sz="1400" b="0" i="0" u="none" strike="noStrike" dirty="0">
              <a:solidFill>
                <a:srgbClr val="4B5563"/>
              </a:solidFill>
              <a:latin typeface="Noto Sans SC"/>
              <a:ea typeface="Noto Sans SC"/>
              <a:cs typeface="Noto Sans SC"/>
              <a:sym typeface="Noto Sans SC"/>
            </a:endParaRPr>
          </a:p>
        </p:txBody>
      </p:sp>
      <p:sp>
        <p:nvSpPr>
          <p:cNvPr id="6" name="AutoShape 6"/>
          <p:cNvSpPr/>
          <p:nvPr/>
        </p:nvSpPr>
        <p:spPr>
          <a:xfrm>
            <a:off x="4445000" y="2019300"/>
            <a:ext cx="3302000" cy="1905000"/>
          </a:xfrm>
          <a:prstGeom prst="roundRect">
            <a:avLst>
              <a:gd name="adj" fmla="val 8000"/>
            </a:avLst>
          </a:prstGeom>
          <a:solidFill>
            <a:srgbClr val="F0FDFA">
              <a:alpha val="100000"/>
            </a:srgbClr>
          </a:solidFill>
          <a:ln w="12700" cap="flat" cmpd="sng">
            <a:solidFill>
              <a:srgbClr val="CCFBF1">
                <a:alpha val="100000"/>
              </a:srgbClr>
            </a:solidFill>
            <a:prstDash val="solid"/>
            <a:round/>
          </a:ln>
        </p:spPr>
        <p:txBody>
          <a:bodyPr vert="horz" wrap="square" lIns="254000" tIns="254000" rIns="254000" bIns="254000" rtlCol="0" anchor="ctr" anchorCtr="0"/>
          <a:lstStyle/>
          <a:p>
            <a:pPr indent="0" algn="ctr">
              <a:lnSpc>
                <a:spcPct val="125000"/>
              </a:lnSpc>
              <a:defRPr/>
            </a:pPr>
            <a:r>
              <a:rPr lang="en-US" sz="1600" b="1" i="0" u="none" strike="noStrike" dirty="0" err="1">
                <a:solidFill>
                  <a:srgbClr val="0D9488"/>
                </a:solidFill>
                <a:latin typeface="Noto Sans SC"/>
                <a:ea typeface="Noto Sans SC"/>
                <a:cs typeface="Noto Sans SC"/>
                <a:sym typeface="Noto Sans SC"/>
              </a:rPr>
              <a:t>字段类型设计</a:t>
            </a:r>
            <a:endParaRPr lang="en-US" sz="1100" dirty="0"/>
          </a:p>
          <a:p>
            <a:pPr indent="0" algn="ctr">
              <a:lnSpc>
                <a:spcPct val="125000"/>
              </a:lnSpc>
            </a:pPr>
            <a:r>
              <a:rPr lang="en-US" sz="1400" b="0" i="0" u="none" strike="noStrike" dirty="0" err="1">
                <a:solidFill>
                  <a:srgbClr val="4B5563"/>
                </a:solidFill>
                <a:latin typeface="Noto Sans SC"/>
                <a:ea typeface="Noto Sans SC"/>
                <a:cs typeface="Noto Sans SC"/>
                <a:sym typeface="Noto Sans SC"/>
              </a:rPr>
              <a:t>公司名、项目名、招标人为字符串；公告日期为标准日期；project_stage为枚举值；金额字段保留原文</a:t>
            </a:r>
            <a:r>
              <a:rPr lang="en-US" sz="1400" b="0" i="0" u="none" strike="noStrike" dirty="0">
                <a:solidFill>
                  <a:srgbClr val="4B5563"/>
                </a:solidFill>
                <a:latin typeface="Noto Sans SC"/>
                <a:ea typeface="Noto Sans SC"/>
                <a:cs typeface="Noto Sans SC"/>
                <a:sym typeface="Noto Sans SC"/>
              </a:rPr>
              <a:t>。</a:t>
            </a:r>
          </a:p>
        </p:txBody>
      </p:sp>
      <p:sp>
        <p:nvSpPr>
          <p:cNvPr id="7" name="AutoShape 7"/>
          <p:cNvSpPr/>
          <p:nvPr/>
        </p:nvSpPr>
        <p:spPr>
          <a:xfrm>
            <a:off x="8128000" y="2019300"/>
            <a:ext cx="3302000" cy="1905000"/>
          </a:xfrm>
          <a:prstGeom prst="roundRect">
            <a:avLst>
              <a:gd name="adj" fmla="val 8000"/>
            </a:avLst>
          </a:prstGeom>
          <a:solidFill>
            <a:srgbClr val="F0FDFA">
              <a:alpha val="100000"/>
            </a:srgbClr>
          </a:solidFill>
          <a:ln w="12700" cap="flat" cmpd="sng">
            <a:solidFill>
              <a:srgbClr val="CCFBF1">
                <a:alpha val="100000"/>
              </a:srgbClr>
            </a:solidFill>
            <a:prstDash val="solid"/>
            <a:round/>
          </a:ln>
        </p:spPr>
        <p:txBody>
          <a:bodyPr vert="horz" wrap="square" lIns="254000" tIns="254000" rIns="254000" bIns="254000" rtlCol="0" anchor="ctr" anchorCtr="0"/>
          <a:lstStyle/>
          <a:p>
            <a:pPr indent="0" algn="ctr">
              <a:lnSpc>
                <a:spcPct val="133333"/>
              </a:lnSpc>
              <a:defRPr/>
            </a:pPr>
            <a:r>
              <a:rPr lang="en-US" sz="1600" b="1" i="0" u="none" strike="noStrike">
                <a:solidFill>
                  <a:srgbClr val="0D9488"/>
                </a:solidFill>
                <a:latin typeface="Noto Sans SC"/>
                <a:ea typeface="Noto Sans SC"/>
                <a:cs typeface="Noto Sans SC"/>
                <a:sym typeface="Noto Sans SC"/>
              </a:rPr>
              <a:t>Null rule</a:t>
            </a:r>
            <a:endParaRPr lang="en-US" sz="1100"/>
          </a:p>
          <a:p>
            <a:pPr indent="0" algn="ctr">
              <a:lnSpc>
                <a:spcPct val="133333"/>
              </a:lnSpc>
            </a:pPr>
            <a:r>
              <a:rPr lang="en-US" sz="1400" b="0" i="0" u="none" strike="noStrike">
                <a:solidFill>
                  <a:srgbClr val="4B5563"/>
                </a:solidFill>
                <a:latin typeface="Noto Sans SC"/>
                <a:ea typeface="Noto Sans SC"/>
                <a:cs typeface="Noto Sans SC"/>
                <a:sym typeface="Noto Sans SC"/>
              </a:rPr>
              <a:t>信息不明确时必须输出null，不能编造。</a:t>
            </a:r>
          </a:p>
        </p:txBody>
      </p:sp>
      <p:sp>
        <p:nvSpPr>
          <p:cNvPr id="8" name="AutoShape 8"/>
          <p:cNvSpPr/>
          <p:nvPr/>
        </p:nvSpPr>
        <p:spPr>
          <a:xfrm>
            <a:off x="762000" y="4178300"/>
            <a:ext cx="5143500" cy="1651000"/>
          </a:xfrm>
          <a:prstGeom prst="roundRect">
            <a:avLst>
              <a:gd name="adj" fmla="val 9230"/>
            </a:avLst>
          </a:prstGeom>
          <a:solidFill>
            <a:srgbClr val="F0FDFA">
              <a:alpha val="100000"/>
            </a:srgbClr>
          </a:solidFill>
          <a:ln w="12700" cap="flat" cmpd="sng">
            <a:solidFill>
              <a:srgbClr val="CCFBF1">
                <a:alpha val="100000"/>
              </a:srgbClr>
            </a:solidFill>
            <a:prstDash val="solid"/>
            <a:round/>
          </a:ln>
        </p:spPr>
        <p:txBody>
          <a:bodyPr vert="horz" wrap="square" lIns="254000" tIns="254000" rIns="254000" bIns="254000" rtlCol="0" anchor="ctr" anchorCtr="0"/>
          <a:lstStyle/>
          <a:p>
            <a:pPr indent="0" algn="ctr">
              <a:lnSpc>
                <a:spcPct val="133333"/>
              </a:lnSpc>
              <a:defRPr/>
            </a:pPr>
            <a:r>
              <a:rPr lang="en-US" sz="1600" b="1" i="0" u="none" strike="noStrike">
                <a:solidFill>
                  <a:srgbClr val="0D9488"/>
                </a:solidFill>
                <a:latin typeface="Noto Sans SC"/>
                <a:ea typeface="Noto Sans SC"/>
                <a:cs typeface="Noto Sans SC"/>
                <a:sym typeface="Noto Sans SC"/>
              </a:rPr>
              <a:t>保留 bid_amount_text 的原因</a:t>
            </a:r>
            <a:endParaRPr lang="en-US" sz="1100"/>
          </a:p>
          <a:p>
            <a:pPr indent="0" algn="ctr">
              <a:lnSpc>
                <a:spcPct val="133333"/>
              </a:lnSpc>
            </a:pPr>
            <a:r>
              <a:rPr lang="en-US" sz="1400" b="0" i="0" u="none" strike="noStrike">
                <a:solidFill>
                  <a:srgbClr val="4B5563"/>
                </a:solidFill>
                <a:latin typeface="Noto Sans SC"/>
                <a:ea typeface="Noto Sans SC"/>
                <a:cs typeface="Noto Sans SC"/>
                <a:sym typeface="Noto Sans SC"/>
              </a:rPr>
              <a:t>金额可能是费率、比例等，保留原文更稳健。</a:t>
            </a:r>
          </a:p>
        </p:txBody>
      </p:sp>
      <p:sp>
        <p:nvSpPr>
          <p:cNvPr id="9" name="AutoShape 9"/>
          <p:cNvSpPr/>
          <p:nvPr/>
        </p:nvSpPr>
        <p:spPr>
          <a:xfrm>
            <a:off x="6286500" y="4178300"/>
            <a:ext cx="5143500" cy="1651000"/>
          </a:xfrm>
          <a:prstGeom prst="roundRect">
            <a:avLst>
              <a:gd name="adj" fmla="val 9230"/>
            </a:avLst>
          </a:prstGeom>
          <a:solidFill>
            <a:srgbClr val="F0FDFA">
              <a:alpha val="100000"/>
            </a:srgbClr>
          </a:solidFill>
          <a:ln w="12700" cap="flat" cmpd="sng">
            <a:solidFill>
              <a:srgbClr val="CCFBF1">
                <a:alpha val="100000"/>
              </a:srgbClr>
            </a:solidFill>
            <a:prstDash val="solid"/>
            <a:round/>
          </a:ln>
        </p:spPr>
        <p:txBody>
          <a:bodyPr vert="horz" wrap="square" lIns="254000" tIns="254000" rIns="254000" bIns="254000" rtlCol="0" anchor="ctr" anchorCtr="0"/>
          <a:lstStyle/>
          <a:p>
            <a:pPr indent="0" algn="ctr">
              <a:lnSpc>
                <a:spcPct val="133333"/>
              </a:lnSpc>
              <a:defRPr/>
            </a:pPr>
            <a:r>
              <a:rPr lang="en-US" sz="1600" b="1" i="0" u="none" strike="noStrike">
                <a:solidFill>
                  <a:srgbClr val="0D9488"/>
                </a:solidFill>
                <a:latin typeface="Noto Sans SC"/>
                <a:ea typeface="Noto Sans SC"/>
                <a:cs typeface="Noto Sans SC"/>
                <a:sym typeface="Noto Sans SC"/>
              </a:rPr>
              <a:t>Evidence 结构</a:t>
            </a:r>
            <a:endParaRPr lang="en-US" sz="1100"/>
          </a:p>
          <a:p>
            <a:pPr indent="0" algn="ctr">
              <a:lnSpc>
                <a:spcPct val="133333"/>
              </a:lnSpc>
            </a:pPr>
            <a:r>
              <a:rPr lang="en-US" sz="1400" b="0" i="0" u="none" strike="noStrike">
                <a:solidFill>
                  <a:srgbClr val="4B5563"/>
                </a:solidFill>
                <a:latin typeface="Noto Sans SC"/>
                <a:ea typeface="Noto Sans SC"/>
                <a:cs typeface="Noto Sans SC"/>
                <a:sym typeface="Noto Sans SC"/>
              </a:rPr>
              <a:t>每个关键字段都回填evidence_text和page_no，保证可追溯。</a:t>
            </a:r>
          </a:p>
        </p:txBody>
      </p:sp>
      <p:sp>
        <p:nvSpPr>
          <p:cNvPr id="10" name="AutoShape 3">
            <a:extLst>
              <a:ext uri="{FF2B5EF4-FFF2-40B4-BE49-F238E27FC236}">
                <a16:creationId xmlns:a16="http://schemas.microsoft.com/office/drawing/2014/main" id="{ADF9E5D0-4D9F-E92E-3FEA-7CF2D13348A9}"/>
              </a:ext>
            </a:extLst>
          </p:cNvPr>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800" b="1" i="0" u="none" strike="noStrike" dirty="0">
                <a:solidFill>
                  <a:srgbClr val="2D3748"/>
                </a:solidFill>
                <a:latin typeface="Noto Sans SC"/>
                <a:ea typeface="Noto Sans SC"/>
                <a:cs typeface="Noto Sans SC"/>
                <a:sym typeface="Noto Sans SC"/>
              </a:rPr>
              <a:t>04 </a:t>
            </a:r>
            <a:r>
              <a:rPr lang="zh-CN" altLang="en-US" sz="2800" b="1" dirty="0">
                <a:solidFill>
                  <a:srgbClr val="2D3748"/>
                </a:solidFill>
                <a:latin typeface="Noto Sans SC"/>
                <a:ea typeface="Noto Sans SC"/>
                <a:cs typeface="Noto Sans SC"/>
                <a:sym typeface="Noto Sans SC"/>
              </a:rPr>
              <a:t>字段与</a:t>
            </a:r>
            <a:r>
              <a:rPr lang="en-US" altLang="zh-CN" sz="2800" b="1" dirty="0">
                <a:solidFill>
                  <a:srgbClr val="2D3748"/>
                </a:solidFill>
                <a:latin typeface="Noto Sans SC"/>
                <a:ea typeface="Noto Sans SC"/>
                <a:cs typeface="Noto Sans SC"/>
                <a:sym typeface="Noto Sans SC"/>
              </a:rPr>
              <a:t>Schema</a:t>
            </a:r>
            <a:endParaRPr lang="zh-CN" altLang="en-US" sz="2800" b="1" i="0" u="none" strike="noStrike" dirty="0">
              <a:solidFill>
                <a:srgbClr val="2D3748"/>
              </a:solidFill>
              <a:latin typeface="Noto Sans SC"/>
              <a:ea typeface="Noto Sans SC"/>
              <a:cs typeface="Noto Sans SC"/>
              <a:sym typeface="Noto Sans SC"/>
            </a:endParaRPr>
          </a:p>
        </p:txBody>
      </p:sp>
      <p:sp>
        <p:nvSpPr>
          <p:cNvPr id="11" name="AutoShape 4">
            <a:extLst>
              <a:ext uri="{FF2B5EF4-FFF2-40B4-BE49-F238E27FC236}">
                <a16:creationId xmlns:a16="http://schemas.microsoft.com/office/drawing/2014/main" id="{E5D1CB1B-5572-FDEF-836A-FC91B3B0C438}"/>
              </a:ext>
            </a:extLst>
          </p:cNvPr>
          <p:cNvSpPr/>
          <p:nvPr/>
        </p:nvSpPr>
        <p:spPr>
          <a:xfrm>
            <a:off x="762000" y="1333500"/>
            <a:ext cx="1270000" cy="50800"/>
          </a:xfrm>
          <a:prstGeom prst="roundRect">
            <a:avLst>
              <a:gd name="adj" fmla="val 0"/>
            </a:avLst>
          </a:prstGeom>
          <a:solidFill>
            <a:srgbClr val="2A9D8F">
              <a:alpha val="100000"/>
            </a:srgbClr>
          </a:solidFill>
          <a:ln w="25400" cap="flat" cmpd="sng">
            <a:noFill/>
            <a:prstDash val="solid"/>
            <a:round/>
          </a:ln>
        </p:spPr>
        <p:txBody>
          <a:bodyPr vert="horz" wrap="square" lIns="0" tIns="0" rIns="0" bIns="0" rtlCol="0" anchor="ctr" anchorCtr="0"/>
          <a:lstStyle/>
          <a:p>
            <a:pPr algn="ctr">
              <a:defRPr/>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937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111827"/>
                </a:solidFill>
                <a:latin typeface="Noto Sans SC"/>
                <a:ea typeface="Noto Sans SC"/>
                <a:cs typeface="Noto Sans SC"/>
                <a:sym typeface="Noto Sans SC"/>
              </a:rPr>
              <a:t>05 PDF </a:t>
            </a:r>
            <a:r>
              <a:rPr lang="en-US" sz="3600" b="1" i="0" u="none" strike="noStrike" dirty="0" err="1">
                <a:solidFill>
                  <a:srgbClr val="111827"/>
                </a:solidFill>
                <a:latin typeface="Noto Sans SC"/>
                <a:ea typeface="Noto Sans SC"/>
                <a:cs typeface="Noto Sans SC"/>
                <a:sym typeface="Noto Sans SC"/>
              </a:rPr>
              <a:t>解析与</a:t>
            </a:r>
            <a:r>
              <a:rPr lang="en-US" sz="3600" b="1" i="0" u="none" strike="noStrike" dirty="0">
                <a:solidFill>
                  <a:srgbClr val="111827"/>
                </a:solidFill>
                <a:latin typeface="Noto Sans SC"/>
                <a:ea typeface="Noto Sans SC"/>
                <a:cs typeface="Noto Sans SC"/>
                <a:sym typeface="Noto Sans SC"/>
              </a:rPr>
              <a:t> Section </a:t>
            </a:r>
            <a:r>
              <a:rPr lang="en-US" sz="3600" b="1" i="0" u="none" strike="noStrike" dirty="0" err="1">
                <a:solidFill>
                  <a:srgbClr val="111827"/>
                </a:solidFill>
                <a:latin typeface="Noto Sans SC"/>
                <a:ea typeface="Noto Sans SC"/>
                <a:cs typeface="Noto Sans SC"/>
                <a:sym typeface="Noto Sans SC"/>
              </a:rPr>
              <a:t>检查</a:t>
            </a:r>
            <a:endParaRPr lang="en-US" sz="1100" dirty="0"/>
          </a:p>
        </p:txBody>
      </p:sp>
      <p:sp>
        <p:nvSpPr>
          <p:cNvPr id="3" name="AutoShape 3"/>
          <p:cNvSpPr/>
          <p:nvPr/>
        </p:nvSpPr>
        <p:spPr>
          <a:xfrm>
            <a:off x="1003300" y="1536700"/>
            <a:ext cx="4826000" cy="2032000"/>
          </a:xfrm>
          <a:prstGeom prst="roundRect">
            <a:avLst>
              <a:gd name="adj" fmla="val 10000"/>
            </a:avLst>
          </a:prstGeom>
          <a:solidFill>
            <a:srgbClr val="F9FAFB">
              <a:alpha val="100000"/>
            </a:srgbClr>
          </a:solidFill>
          <a:ln w="12700" cap="flat" cmpd="sng">
            <a:solidFill>
              <a:srgbClr val="E5E7EB">
                <a:alpha val="100000"/>
              </a:srgbClr>
            </a:solidFill>
            <a:prstDash val="solid"/>
            <a:round/>
          </a:ln>
        </p:spPr>
        <p:txBody>
          <a:bodyPr vert="horz" wrap="square" lIns="304800" tIns="304800" rIns="304800" bIns="304800" rtlCol="0" anchor="t" anchorCtr="0"/>
          <a:lstStyle/>
          <a:p>
            <a:pPr indent="0" algn="ctr">
              <a:lnSpc>
                <a:spcPct val="125000"/>
              </a:lnSpc>
              <a:defRPr/>
            </a:pPr>
            <a:r>
              <a:rPr lang="en-US" sz="2000" b="1" i="0" u="none" strike="noStrike" dirty="0">
                <a:solidFill>
                  <a:srgbClr val="1E40AF"/>
                </a:solidFill>
                <a:latin typeface="Noto Sans SC"/>
                <a:ea typeface="Noto Sans SC"/>
                <a:cs typeface="Noto Sans SC"/>
                <a:sym typeface="Noto Sans SC"/>
              </a:rPr>
              <a:t>PDF </a:t>
            </a:r>
            <a:r>
              <a:rPr lang="en-US" sz="2000" b="1" i="0" u="none" strike="noStrike" dirty="0" err="1">
                <a:solidFill>
                  <a:srgbClr val="1E40AF"/>
                </a:solidFill>
                <a:latin typeface="Noto Sans SC"/>
                <a:ea typeface="Noto Sans SC"/>
                <a:cs typeface="Noto Sans SC"/>
                <a:sym typeface="Noto Sans SC"/>
              </a:rPr>
              <a:t>解析目标</a:t>
            </a:r>
            <a:endParaRPr lang="en-US" sz="1100" dirty="0"/>
          </a:p>
          <a:p>
            <a:pPr indent="0" algn="ctr">
              <a:lnSpc>
                <a:spcPct val="125000"/>
              </a:lnSpc>
            </a:pPr>
            <a:r>
              <a:rPr lang="en-US" sz="1600" b="0" i="0" u="none" strike="noStrike" dirty="0" err="1">
                <a:solidFill>
                  <a:srgbClr val="374151"/>
                </a:solidFill>
                <a:latin typeface="Noto Sans SC"/>
                <a:ea typeface="Noto Sans SC"/>
                <a:cs typeface="Noto Sans SC"/>
                <a:sym typeface="Noto Sans SC"/>
              </a:rPr>
              <a:t>将公告PDF统一整理成可处理文本</a:t>
            </a:r>
            <a:r>
              <a:rPr lang="en-US" sz="1600" b="0" i="0" u="none" strike="noStrike" dirty="0">
                <a:solidFill>
                  <a:srgbClr val="374151"/>
                </a:solidFill>
                <a:latin typeface="Noto Sans SC"/>
                <a:ea typeface="Noto Sans SC"/>
                <a:cs typeface="Noto Sans SC"/>
                <a:sym typeface="Noto Sans SC"/>
              </a:rPr>
              <a:t>。</a:t>
            </a:r>
          </a:p>
        </p:txBody>
      </p:sp>
      <p:sp>
        <p:nvSpPr>
          <p:cNvPr id="4" name="AutoShape 4"/>
          <p:cNvSpPr/>
          <p:nvPr/>
        </p:nvSpPr>
        <p:spPr>
          <a:xfrm>
            <a:off x="6337300" y="1536700"/>
            <a:ext cx="4826000" cy="2032000"/>
          </a:xfrm>
          <a:prstGeom prst="roundRect">
            <a:avLst>
              <a:gd name="adj" fmla="val 10000"/>
            </a:avLst>
          </a:prstGeom>
          <a:solidFill>
            <a:srgbClr val="F9FAFB">
              <a:alpha val="100000"/>
            </a:srgbClr>
          </a:solidFill>
          <a:ln w="12700" cap="flat" cmpd="sng">
            <a:solidFill>
              <a:srgbClr val="E5E7EB">
                <a:alpha val="100000"/>
              </a:srgbClr>
            </a:solidFill>
            <a:prstDash val="solid"/>
            <a:round/>
          </a:ln>
        </p:spPr>
        <p:txBody>
          <a:bodyPr vert="horz" wrap="square" lIns="304800" tIns="304800" rIns="304800" bIns="304800" rtlCol="0" anchor="t" anchorCtr="0"/>
          <a:lstStyle/>
          <a:p>
            <a:pPr indent="0" algn="ctr">
              <a:lnSpc>
                <a:spcPct val="125000"/>
              </a:lnSpc>
              <a:defRPr/>
            </a:pPr>
            <a:r>
              <a:rPr lang="en-US" sz="2000" b="1" i="0" u="none" strike="noStrike">
                <a:solidFill>
                  <a:srgbClr val="1E40AF"/>
                </a:solidFill>
                <a:latin typeface="Noto Sans SC"/>
                <a:ea typeface="Noto Sans SC"/>
                <a:cs typeface="Noto Sans SC"/>
                <a:sym typeface="Noto Sans SC"/>
              </a:rPr>
              <a:t>目标章节</a:t>
            </a:r>
            <a:endParaRPr lang="en-US" sz="1100"/>
          </a:p>
          <a:p>
            <a:pPr indent="0" algn="ctr">
              <a:lnSpc>
                <a:spcPct val="125000"/>
              </a:lnSpc>
            </a:pPr>
            <a:r>
              <a:rPr lang="en-US" sz="1600" b="0" i="0" u="none" strike="noStrike">
                <a:solidFill>
                  <a:srgbClr val="374151"/>
                </a:solidFill>
                <a:latin typeface="Noto Sans SC"/>
                <a:ea typeface="Noto Sans SC"/>
                <a:cs typeface="Noto Sans SC"/>
                <a:sym typeface="Noto Sans SC"/>
              </a:rPr>
              <a:t>重点定位“中标情况”、“中标项目情况”、“风险提示”等段落。</a:t>
            </a:r>
          </a:p>
        </p:txBody>
      </p:sp>
      <p:sp>
        <p:nvSpPr>
          <p:cNvPr id="5" name="AutoShape 5"/>
          <p:cNvSpPr/>
          <p:nvPr/>
        </p:nvSpPr>
        <p:spPr>
          <a:xfrm>
            <a:off x="1003300" y="3949700"/>
            <a:ext cx="4826000" cy="2032000"/>
          </a:xfrm>
          <a:prstGeom prst="roundRect">
            <a:avLst>
              <a:gd name="adj" fmla="val 10000"/>
            </a:avLst>
          </a:prstGeom>
          <a:solidFill>
            <a:srgbClr val="F9FAFB">
              <a:alpha val="100000"/>
            </a:srgbClr>
          </a:solidFill>
          <a:ln w="12700" cap="flat" cmpd="sng">
            <a:solidFill>
              <a:srgbClr val="E5E7EB">
                <a:alpha val="100000"/>
              </a:srgbClr>
            </a:solidFill>
            <a:prstDash val="solid"/>
            <a:round/>
          </a:ln>
        </p:spPr>
        <p:txBody>
          <a:bodyPr vert="horz" wrap="square" lIns="304800" tIns="304800" rIns="304800" bIns="304800" rtlCol="0" anchor="t" anchorCtr="0"/>
          <a:lstStyle/>
          <a:p>
            <a:pPr indent="0" algn="ctr">
              <a:lnSpc>
                <a:spcPct val="125000"/>
              </a:lnSpc>
              <a:defRPr/>
            </a:pPr>
            <a:r>
              <a:rPr lang="en-US" altLang="zh-CN" sz="2000" b="1" i="0" u="none" strike="noStrike" dirty="0">
                <a:solidFill>
                  <a:srgbClr val="1E40AF"/>
                </a:solidFill>
                <a:latin typeface="Noto Sans SC"/>
                <a:ea typeface="Noto Sans SC"/>
                <a:cs typeface="Noto Sans SC"/>
                <a:sym typeface="Noto Sans SC"/>
              </a:rPr>
              <a:t>section routing</a:t>
            </a:r>
          </a:p>
          <a:p>
            <a:pPr indent="0" algn="ctr">
              <a:lnSpc>
                <a:spcPct val="125000"/>
              </a:lnSpc>
              <a:defRPr/>
            </a:pPr>
            <a:r>
              <a:rPr lang="en-US" sz="1600" b="0" i="0" u="none" strike="noStrike" dirty="0" err="1">
                <a:solidFill>
                  <a:srgbClr val="374151"/>
                </a:solidFill>
                <a:latin typeface="Noto Sans SC"/>
                <a:ea typeface="Noto Sans SC"/>
                <a:cs typeface="Noto Sans SC"/>
                <a:sym typeface="Noto Sans SC"/>
              </a:rPr>
              <a:t>通过关键词定位候选段落</a:t>
            </a:r>
            <a:r>
              <a:rPr lang="en-US" sz="1600" b="0" i="0" u="none" strike="noStrike" dirty="0">
                <a:solidFill>
                  <a:srgbClr val="374151"/>
                </a:solidFill>
                <a:latin typeface="Noto Sans SC"/>
                <a:ea typeface="Noto Sans SC"/>
                <a:cs typeface="Noto Sans SC"/>
                <a:sym typeface="Noto Sans SC"/>
              </a:rPr>
              <a:t>。</a:t>
            </a:r>
          </a:p>
        </p:txBody>
      </p:sp>
      <p:sp>
        <p:nvSpPr>
          <p:cNvPr id="6" name="AutoShape 6"/>
          <p:cNvSpPr/>
          <p:nvPr/>
        </p:nvSpPr>
        <p:spPr>
          <a:xfrm>
            <a:off x="6337300" y="3949700"/>
            <a:ext cx="4826000" cy="2032000"/>
          </a:xfrm>
          <a:prstGeom prst="roundRect">
            <a:avLst>
              <a:gd name="adj" fmla="val 10000"/>
            </a:avLst>
          </a:prstGeom>
          <a:solidFill>
            <a:srgbClr val="F9FAFB">
              <a:alpha val="100000"/>
            </a:srgbClr>
          </a:solidFill>
          <a:ln w="12700" cap="flat" cmpd="sng">
            <a:solidFill>
              <a:srgbClr val="E5E7EB">
                <a:alpha val="100000"/>
              </a:srgbClr>
            </a:solidFill>
            <a:prstDash val="solid"/>
            <a:round/>
          </a:ln>
        </p:spPr>
        <p:txBody>
          <a:bodyPr vert="horz" wrap="square" lIns="304800" tIns="304800" rIns="304800" bIns="304800" rtlCol="0" anchor="t" anchorCtr="0"/>
          <a:lstStyle/>
          <a:p>
            <a:pPr indent="0" algn="ctr">
              <a:lnSpc>
                <a:spcPct val="125000"/>
              </a:lnSpc>
              <a:defRPr/>
            </a:pPr>
            <a:r>
              <a:rPr lang="en-US" altLang="zh-CN" sz="2000" b="1" dirty="0">
                <a:solidFill>
                  <a:srgbClr val="1E40AF"/>
                </a:solidFill>
                <a:latin typeface="Noto Sans SC"/>
                <a:ea typeface="Noto Sans SC"/>
                <a:cs typeface="Noto Sans SC"/>
                <a:sym typeface="Noto Sans SC"/>
              </a:rPr>
              <a:t>section checking</a:t>
            </a:r>
          </a:p>
          <a:p>
            <a:pPr indent="0" algn="ctr">
              <a:lnSpc>
                <a:spcPct val="125000"/>
              </a:lnSpc>
              <a:defRPr/>
            </a:pPr>
            <a:r>
              <a:rPr lang="en-US" sz="1600" b="0" i="0" u="none" strike="noStrike" dirty="0" err="1">
                <a:solidFill>
                  <a:srgbClr val="374151"/>
                </a:solidFill>
                <a:latin typeface="Noto Sans SC"/>
                <a:ea typeface="Noto Sans SC"/>
                <a:cs typeface="Noto Sans SC"/>
                <a:sym typeface="Noto Sans SC"/>
              </a:rPr>
              <a:t>人工复核定位结果，防止误命中无关位置</a:t>
            </a:r>
            <a:r>
              <a:rPr lang="en-US" sz="1600" b="0" i="0" u="none" strike="noStrike" dirty="0">
                <a:solidFill>
                  <a:srgbClr val="374151"/>
                </a:solidFill>
                <a:latin typeface="Noto Sans SC"/>
                <a:ea typeface="Noto Sans SC"/>
                <a:cs typeface="Noto Sans SC"/>
                <a:sym typeface="Noto Sans SC"/>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9FAFB">
              <a:alpha val="92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838200" y="4064000"/>
            <a:ext cx="5080000" cy="889000"/>
          </a:xfrm>
          <a:prstGeom prst="roundRect">
            <a:avLst>
              <a:gd name="adj" fmla="val 20000"/>
            </a:avLst>
          </a:prstGeom>
          <a:solidFill>
            <a:srgbClr val="ECFDF5">
              <a:alpha val="100000"/>
            </a:srgbClr>
          </a:solidFill>
          <a:ln w="12700" cap="flat" cmpd="sng">
            <a:solidFill>
              <a:srgbClr val="A7F3D0">
                <a:alpha val="100000"/>
              </a:srgbClr>
            </a:solidFill>
            <a:prstDash val="solid"/>
            <a:round/>
          </a:ln>
        </p:spPr>
        <p:txBody>
          <a:bodyPr vert="horz" wrap="square" lIns="203200" tIns="0" rIns="203200" bIns="0" rtlCol="0" anchor="ctr" anchorCtr="0"/>
          <a:lstStyle/>
          <a:p>
            <a:pPr indent="0" algn="ctr">
              <a:lnSpc>
                <a:spcPct val="100000"/>
              </a:lnSpc>
              <a:defRPr/>
            </a:pPr>
            <a:r>
              <a:rPr lang="en-US" sz="1600" b="1" i="0" u="none" strike="noStrike" dirty="0" err="1">
                <a:solidFill>
                  <a:srgbClr val="047857"/>
                </a:solidFill>
                <a:latin typeface="Noto Sans SC"/>
                <a:ea typeface="Noto Sans SC"/>
                <a:cs typeface="Noto Sans SC"/>
                <a:sym typeface="Noto Sans SC"/>
              </a:rPr>
              <a:t>整体流程</a:t>
            </a:r>
            <a:endParaRPr lang="en-US" sz="1100" dirty="0"/>
          </a:p>
          <a:p>
            <a:pPr indent="0" algn="ctr">
              <a:lnSpc>
                <a:spcPct val="108333"/>
              </a:lnSpc>
            </a:pPr>
            <a:r>
              <a:rPr lang="en-US" sz="1300" b="0" i="0" u="none" strike="noStrike" dirty="0">
                <a:solidFill>
                  <a:srgbClr val="374151"/>
                </a:solidFill>
                <a:latin typeface="Noto Sans SC"/>
                <a:ea typeface="Noto Sans SC"/>
                <a:cs typeface="Noto Sans SC"/>
                <a:sym typeface="Noto Sans SC"/>
              </a:rPr>
              <a:t>metadata → audit → parse → route → extract → validate → final result</a:t>
            </a:r>
          </a:p>
        </p:txBody>
      </p:sp>
      <p:sp>
        <p:nvSpPr>
          <p:cNvPr id="6" name="AutoShape 6"/>
          <p:cNvSpPr/>
          <p:nvPr/>
        </p:nvSpPr>
        <p:spPr>
          <a:xfrm>
            <a:off x="838200" y="5080000"/>
            <a:ext cx="5080000" cy="889000"/>
          </a:xfrm>
          <a:prstGeom prst="roundRect">
            <a:avLst>
              <a:gd name="adj" fmla="val 22857"/>
            </a:avLst>
          </a:prstGeom>
          <a:solidFill>
            <a:srgbClr val="EFF6FF">
              <a:alpha val="100000"/>
            </a:srgbClr>
          </a:solidFill>
          <a:ln w="12700" cap="flat" cmpd="sng">
            <a:solidFill>
              <a:srgbClr val="BFDBFE">
                <a:alpha val="100000"/>
              </a:srgbClr>
            </a:solidFill>
            <a:prstDash val="solid"/>
            <a:round/>
          </a:ln>
        </p:spPr>
        <p:txBody>
          <a:bodyPr vert="horz" wrap="square" lIns="203200" tIns="0" rIns="203200" bIns="0" rtlCol="0" anchor="ctr" anchorCtr="0"/>
          <a:lstStyle/>
          <a:p>
            <a:pPr indent="0" algn="ctr">
              <a:lnSpc>
                <a:spcPct val="100000"/>
              </a:lnSpc>
              <a:defRPr/>
            </a:pPr>
            <a:r>
              <a:rPr lang="en-US" sz="1500" b="1" i="0" u="none" strike="noStrike" dirty="0">
                <a:solidFill>
                  <a:srgbClr val="1E40AF"/>
                </a:solidFill>
                <a:latin typeface="Noto Sans SC"/>
                <a:ea typeface="Noto Sans SC"/>
                <a:cs typeface="Noto Sans SC"/>
                <a:sym typeface="Noto Sans SC"/>
              </a:rPr>
              <a:t>audit </a:t>
            </a:r>
            <a:r>
              <a:rPr lang="en-US" sz="1500" b="1" i="0" u="none" strike="noStrike" dirty="0" err="1">
                <a:solidFill>
                  <a:srgbClr val="1E40AF"/>
                </a:solidFill>
                <a:latin typeface="Noto Sans SC"/>
                <a:ea typeface="Noto Sans SC"/>
                <a:cs typeface="Noto Sans SC"/>
                <a:sym typeface="Noto Sans SC"/>
              </a:rPr>
              <a:t>校验阶段</a:t>
            </a:r>
            <a:endParaRPr lang="en-US" sz="1100" dirty="0"/>
          </a:p>
          <a:p>
            <a:pPr indent="0" algn="ctr">
              <a:lnSpc>
                <a:spcPct val="108333"/>
              </a:lnSpc>
            </a:pPr>
            <a:r>
              <a:rPr lang="en-US" sz="1300" b="0" i="0" u="none" strike="noStrike" dirty="0" err="1">
                <a:solidFill>
                  <a:srgbClr val="374151"/>
                </a:solidFill>
                <a:latin typeface="Noto Sans SC"/>
                <a:ea typeface="Noto Sans SC"/>
                <a:cs typeface="Noto Sans SC"/>
                <a:sym typeface="Noto Sans SC"/>
              </a:rPr>
              <a:t>检查元数据、重复记录、PDF缺失及标题相关性</a:t>
            </a:r>
            <a:endParaRPr lang="en-US" sz="1300" b="0" i="0" u="none" strike="noStrike" dirty="0">
              <a:solidFill>
                <a:srgbClr val="374151"/>
              </a:solidFill>
              <a:latin typeface="Noto Sans SC"/>
              <a:ea typeface="Noto Sans SC"/>
              <a:cs typeface="Noto Sans SC"/>
              <a:sym typeface="Noto Sans SC"/>
            </a:endParaRPr>
          </a:p>
        </p:txBody>
      </p:sp>
      <p:sp>
        <p:nvSpPr>
          <p:cNvPr id="7" name="AutoShape 7"/>
          <p:cNvSpPr/>
          <p:nvPr/>
        </p:nvSpPr>
        <p:spPr>
          <a:xfrm>
            <a:off x="6096000" y="4064000"/>
            <a:ext cx="5080000" cy="889000"/>
          </a:xfrm>
          <a:prstGeom prst="roundRect">
            <a:avLst>
              <a:gd name="adj" fmla="val 22857"/>
            </a:avLst>
          </a:prstGeom>
          <a:solidFill>
            <a:srgbClr val="EFF6FF">
              <a:alpha val="100000"/>
            </a:srgbClr>
          </a:solidFill>
          <a:ln w="12700" cap="flat" cmpd="sng">
            <a:solidFill>
              <a:srgbClr val="BFDBFE">
                <a:alpha val="100000"/>
              </a:srgbClr>
            </a:solidFill>
            <a:prstDash val="solid"/>
            <a:round/>
          </a:ln>
        </p:spPr>
        <p:txBody>
          <a:bodyPr vert="horz" wrap="square" lIns="203200" tIns="0" rIns="203200" bIns="0" rtlCol="0" anchor="ctr" anchorCtr="0"/>
          <a:lstStyle/>
          <a:p>
            <a:pPr indent="0" algn="ctr">
              <a:lnSpc>
                <a:spcPct val="100000"/>
              </a:lnSpc>
              <a:defRPr/>
            </a:pPr>
            <a:r>
              <a:rPr lang="en-US" sz="1500" b="1" i="0" u="none" strike="noStrike" dirty="0">
                <a:solidFill>
                  <a:srgbClr val="1E40AF"/>
                </a:solidFill>
                <a:latin typeface="Noto Sans SC"/>
                <a:ea typeface="Noto Sans SC"/>
                <a:cs typeface="Noto Sans SC"/>
                <a:sym typeface="Noto Sans SC"/>
              </a:rPr>
              <a:t>parse &amp; route </a:t>
            </a:r>
            <a:r>
              <a:rPr lang="en-US" sz="1500" b="1" i="0" u="none" strike="noStrike" dirty="0" err="1">
                <a:solidFill>
                  <a:srgbClr val="1E40AF"/>
                </a:solidFill>
                <a:latin typeface="Noto Sans SC"/>
                <a:ea typeface="Noto Sans SC"/>
                <a:cs typeface="Noto Sans SC"/>
                <a:sym typeface="Noto Sans SC"/>
              </a:rPr>
              <a:t>解析路由</a:t>
            </a:r>
            <a:endParaRPr lang="en-US" sz="1100" dirty="0"/>
          </a:p>
          <a:p>
            <a:pPr indent="0" algn="ctr">
              <a:lnSpc>
                <a:spcPct val="108333"/>
              </a:lnSpc>
            </a:pPr>
            <a:r>
              <a:rPr lang="en-US" sz="1300" b="0" i="0" u="none" strike="noStrike" dirty="0" err="1">
                <a:solidFill>
                  <a:srgbClr val="374151"/>
                </a:solidFill>
                <a:latin typeface="Noto Sans SC"/>
                <a:ea typeface="Noto Sans SC"/>
                <a:cs typeface="Noto Sans SC"/>
                <a:sym typeface="Noto Sans SC"/>
              </a:rPr>
              <a:t>PDF转文本并截取相关段落，过滤无效噪声信息</a:t>
            </a:r>
            <a:endParaRPr lang="en-US" sz="1300" b="0" i="0" u="none" strike="noStrike" dirty="0">
              <a:solidFill>
                <a:srgbClr val="374151"/>
              </a:solidFill>
              <a:latin typeface="Noto Sans SC"/>
              <a:ea typeface="Noto Sans SC"/>
              <a:cs typeface="Noto Sans SC"/>
              <a:sym typeface="Noto Sans SC"/>
            </a:endParaRPr>
          </a:p>
        </p:txBody>
      </p:sp>
      <p:sp>
        <p:nvSpPr>
          <p:cNvPr id="8" name="AutoShape 8"/>
          <p:cNvSpPr/>
          <p:nvPr/>
        </p:nvSpPr>
        <p:spPr>
          <a:xfrm>
            <a:off x="6096000" y="5080000"/>
            <a:ext cx="5080000" cy="889000"/>
          </a:xfrm>
          <a:prstGeom prst="roundRect">
            <a:avLst>
              <a:gd name="adj" fmla="val 22857"/>
            </a:avLst>
          </a:prstGeom>
          <a:solidFill>
            <a:srgbClr val="EFF6FF">
              <a:alpha val="100000"/>
            </a:srgbClr>
          </a:solidFill>
          <a:ln w="12700" cap="flat" cmpd="sng">
            <a:solidFill>
              <a:srgbClr val="BFDBFE">
                <a:alpha val="100000"/>
              </a:srgbClr>
            </a:solidFill>
            <a:prstDash val="solid"/>
            <a:round/>
          </a:ln>
        </p:spPr>
        <p:txBody>
          <a:bodyPr vert="horz" wrap="square" lIns="203200" tIns="0" rIns="203200" bIns="0" rtlCol="0" anchor="ctr" anchorCtr="0"/>
          <a:lstStyle/>
          <a:p>
            <a:pPr indent="0" algn="ctr">
              <a:lnSpc>
                <a:spcPct val="100000"/>
              </a:lnSpc>
              <a:defRPr/>
            </a:pPr>
            <a:r>
              <a:rPr lang="en-US" sz="1500" b="1" i="0" u="none" strike="noStrike">
                <a:solidFill>
                  <a:srgbClr val="1E40AF"/>
                </a:solidFill>
                <a:latin typeface="Noto Sans SC"/>
                <a:ea typeface="Noto Sans SC"/>
                <a:cs typeface="Noto Sans SC"/>
                <a:sym typeface="Noto Sans SC"/>
              </a:rPr>
              <a:t>extract &amp; validate 提取验证</a:t>
            </a:r>
            <a:endParaRPr lang="en-US" sz="1100"/>
          </a:p>
          <a:p>
            <a:pPr indent="0" algn="ctr">
              <a:lnSpc>
                <a:spcPct val="108333"/>
              </a:lnSpc>
            </a:pPr>
            <a:r>
              <a:rPr lang="en-US" sz="1300" b="0" i="0" u="none" strike="noStrike">
                <a:solidFill>
                  <a:srgbClr val="374151"/>
                </a:solidFill>
                <a:latin typeface="Noto Sans SC"/>
                <a:ea typeface="Noto Sans SC"/>
                <a:cs typeface="Noto Sans SC"/>
                <a:sym typeface="Noto Sans SC"/>
              </a:rPr>
              <a:t>输出结构化字段，通过Pydantic完成格式校验</a:t>
            </a:r>
          </a:p>
        </p:txBody>
      </p:sp>
      <p:sp>
        <p:nvSpPr>
          <p:cNvPr id="12" name="AutoShape 2">
            <a:extLst>
              <a:ext uri="{FF2B5EF4-FFF2-40B4-BE49-F238E27FC236}">
                <a16:creationId xmlns:a16="http://schemas.microsoft.com/office/drawing/2014/main" id="{852ABED4-0582-3342-A9C5-D1C99A109A84}"/>
              </a:ext>
            </a:extLst>
          </p:cNvPr>
          <p:cNvSpPr/>
          <p:nvPr/>
        </p:nvSpPr>
        <p:spPr>
          <a:xfrm>
            <a:off x="762000" y="3937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111827"/>
                </a:solidFill>
                <a:latin typeface="Noto Sans SC"/>
                <a:ea typeface="Noto Sans SC"/>
                <a:cs typeface="Noto Sans SC"/>
                <a:sym typeface="Noto Sans SC"/>
              </a:rPr>
              <a:t>06 Workflow </a:t>
            </a:r>
            <a:r>
              <a:rPr lang="zh-CN" altLang="en-US" sz="3600" b="1" i="0" u="none" strike="noStrike" dirty="0">
                <a:solidFill>
                  <a:srgbClr val="111827"/>
                </a:solidFill>
                <a:latin typeface="Noto Sans SC"/>
                <a:ea typeface="Noto Sans SC"/>
                <a:cs typeface="Noto Sans SC"/>
                <a:sym typeface="Noto Sans SC"/>
              </a:rPr>
              <a:t>核心处理流程</a:t>
            </a:r>
          </a:p>
        </p:txBody>
      </p:sp>
      <p:pic>
        <p:nvPicPr>
          <p:cNvPr id="14" name="图片 13">
            <a:extLst>
              <a:ext uri="{FF2B5EF4-FFF2-40B4-BE49-F238E27FC236}">
                <a16:creationId xmlns:a16="http://schemas.microsoft.com/office/drawing/2014/main" id="{69383F62-7491-4242-391A-92690E1DA7D8}"/>
              </a:ext>
            </a:extLst>
          </p:cNvPr>
          <p:cNvPicPr>
            <a:picLocks noChangeAspect="1"/>
          </p:cNvPicPr>
          <p:nvPr/>
        </p:nvPicPr>
        <p:blipFill>
          <a:blip r:embed="rId4"/>
          <a:stretch>
            <a:fillRect/>
          </a:stretch>
        </p:blipFill>
        <p:spPr>
          <a:xfrm>
            <a:off x="1511300" y="1362973"/>
            <a:ext cx="9569450" cy="23330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AFC">
              <a:alpha val="92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2">
            <a:extLst>
              <a:ext uri="{FF2B5EF4-FFF2-40B4-BE49-F238E27FC236}">
                <a16:creationId xmlns:a16="http://schemas.microsoft.com/office/drawing/2014/main" id="{199C56E4-71FC-0683-A94E-6F49783C99FE}"/>
              </a:ext>
            </a:extLst>
          </p:cNvPr>
          <p:cNvSpPr/>
          <p:nvPr/>
        </p:nvSpPr>
        <p:spPr>
          <a:xfrm>
            <a:off x="762000" y="3937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111827"/>
                </a:solidFill>
                <a:latin typeface="Noto Sans SC"/>
                <a:ea typeface="Noto Sans SC"/>
                <a:cs typeface="Noto Sans SC"/>
                <a:sym typeface="Noto Sans SC"/>
              </a:rPr>
              <a:t>07 Demo </a:t>
            </a:r>
            <a:r>
              <a:rPr lang="zh-CN" altLang="en-US" sz="3600" b="1" i="0" u="none" strike="noStrike" dirty="0">
                <a:solidFill>
                  <a:srgbClr val="111827"/>
                </a:solidFill>
                <a:latin typeface="Noto Sans SC"/>
                <a:ea typeface="Noto Sans SC"/>
                <a:cs typeface="Noto Sans SC"/>
                <a:sym typeface="Noto Sans SC"/>
              </a:rPr>
              <a:t>演示环节</a:t>
            </a:r>
          </a:p>
        </p:txBody>
      </p:sp>
      <p:pic>
        <p:nvPicPr>
          <p:cNvPr id="14" name="图片 13">
            <a:extLst>
              <a:ext uri="{FF2B5EF4-FFF2-40B4-BE49-F238E27FC236}">
                <a16:creationId xmlns:a16="http://schemas.microsoft.com/office/drawing/2014/main" id="{7E28014A-6CCF-AE30-B7A5-71EF2647B22E}"/>
              </a:ext>
            </a:extLst>
          </p:cNvPr>
          <p:cNvPicPr>
            <a:picLocks noChangeAspect="1"/>
          </p:cNvPicPr>
          <p:nvPr/>
        </p:nvPicPr>
        <p:blipFill>
          <a:blip r:embed="rId4"/>
          <a:stretch>
            <a:fillRect/>
          </a:stretch>
        </p:blipFill>
        <p:spPr>
          <a:xfrm>
            <a:off x="649178" y="1747799"/>
            <a:ext cx="10893644" cy="35716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A147-04A1-576E-3B7E-48FB62A7C86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8F211CB-D91D-4B78-6959-E7B04C705527}"/>
              </a:ext>
            </a:extLst>
          </p:cNvPr>
          <p:cNvSpPr/>
          <p:nvPr/>
        </p:nvSpPr>
        <p:spPr>
          <a:xfrm>
            <a:off x="0" y="0"/>
            <a:ext cx="12192000" cy="6858000"/>
          </a:xfrm>
          <a:prstGeom prst="roundRect">
            <a:avLst>
              <a:gd name="adj" fmla="val 0"/>
            </a:avLst>
          </a:prstGeom>
          <a:solidFill>
            <a:srgbClr val="F7FAFC">
              <a:alpha val="92000"/>
            </a:srgbClr>
          </a:solidFill>
          <a:ln w="25400" cap="flat" cmpd="sng">
            <a:noFill/>
            <a:prstDash val="solid"/>
            <a:round/>
          </a:ln>
        </p:spPr>
        <p:txBody>
          <a:bodyPr vert="horz" wrap="square" lIns="0" tIns="0" rIns="0" bIns="0" rtlCol="0" anchor="ctr" anchorCtr="0"/>
          <a:lstStyle/>
          <a:p>
            <a:pPr algn="ctr">
              <a:defRPr/>
            </a:pPr>
            <a:endParaRPr lang="zh-CN" altLang="en-US" dirty="0"/>
          </a:p>
        </p:txBody>
      </p:sp>
      <p:sp>
        <p:nvSpPr>
          <p:cNvPr id="7" name="AutoShape 7">
            <a:extLst>
              <a:ext uri="{FF2B5EF4-FFF2-40B4-BE49-F238E27FC236}">
                <a16:creationId xmlns:a16="http://schemas.microsoft.com/office/drawing/2014/main" id="{F3726ADB-E1E6-6678-50B2-6659584540F6}"/>
              </a:ext>
            </a:extLst>
          </p:cNvPr>
          <p:cNvSpPr/>
          <p:nvPr/>
        </p:nvSpPr>
        <p:spPr>
          <a:xfrm>
            <a:off x="460829" y="2135414"/>
            <a:ext cx="3302000" cy="2540001"/>
          </a:xfrm>
          <a:prstGeom prst="roundRect">
            <a:avLst>
              <a:gd name="adj" fmla="val 4615"/>
            </a:avLst>
          </a:prstGeom>
          <a:solidFill>
            <a:srgbClr val="FFFFFF">
              <a:alpha val="100000"/>
            </a:srgbClr>
          </a:solidFill>
          <a:ln w="25400" cap="flat" cmpd="sng">
            <a:solidFill>
              <a:srgbClr val="2DD4BF">
                <a:alpha val="100000"/>
              </a:srgbClr>
            </a:solidFill>
            <a:prstDash val="solid"/>
            <a:round/>
          </a:ln>
          <a:effectLst>
            <a:outerShdw blurRad="190500" dist="76200" dir="5400000" algn="tl" rotWithShape="0">
              <a:srgbClr val="000000">
                <a:alpha val="8000"/>
              </a:srgbClr>
            </a:outerShdw>
          </a:effectLst>
        </p:spPr>
        <p:txBody>
          <a:bodyPr vert="horz" wrap="square" lIns="0" tIns="0" rIns="0" bIns="0" rtlCol="0" anchor="ctr" anchorCtr="0"/>
          <a:lstStyle/>
          <a:p>
            <a:pPr algn="ctr">
              <a:defRPr/>
            </a:pPr>
            <a:endParaRPr/>
          </a:p>
        </p:txBody>
      </p:sp>
      <p:sp>
        <p:nvSpPr>
          <p:cNvPr id="9" name="AutoShape 9">
            <a:extLst>
              <a:ext uri="{FF2B5EF4-FFF2-40B4-BE49-F238E27FC236}">
                <a16:creationId xmlns:a16="http://schemas.microsoft.com/office/drawing/2014/main" id="{4EBE90BF-1C15-11F6-8661-001340FAAFD8}"/>
              </a:ext>
            </a:extLst>
          </p:cNvPr>
          <p:cNvSpPr/>
          <p:nvPr/>
        </p:nvSpPr>
        <p:spPr>
          <a:xfrm>
            <a:off x="714829" y="2135415"/>
            <a:ext cx="2794000" cy="254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dirty="0" err="1">
                <a:solidFill>
                  <a:srgbClr val="111827"/>
                </a:solidFill>
                <a:latin typeface="Noto Sans SC"/>
                <a:ea typeface="Noto Sans SC"/>
                <a:cs typeface="Noto Sans SC"/>
                <a:sym typeface="Noto Sans SC"/>
              </a:rPr>
              <a:t>展示顺序</a:t>
            </a:r>
            <a:endParaRPr lang="en-US" sz="1100" dirty="0"/>
          </a:p>
          <a:p>
            <a:pPr indent="0" algn="l">
              <a:lnSpc>
                <a:spcPct val="125000"/>
              </a:lnSpc>
            </a:pP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b="0" i="0" u="none" strike="noStrike" dirty="0">
                <a:solidFill>
                  <a:srgbClr val="FF0000"/>
                </a:solidFill>
                <a:latin typeface="Noto Sans SC"/>
                <a:ea typeface="Noto Sans SC"/>
                <a:cs typeface="Noto Sans SC"/>
                <a:sym typeface="Noto Sans SC"/>
              </a:rPr>
              <a:t>1. </a:t>
            </a:r>
            <a:r>
              <a:rPr lang="en-US" sz="1200" b="0" i="0" u="none" strike="noStrike" dirty="0" err="1">
                <a:solidFill>
                  <a:srgbClr val="FF0000"/>
                </a:solidFill>
                <a:latin typeface="Noto Sans SC"/>
                <a:ea typeface="Noto Sans SC"/>
                <a:cs typeface="Noto Sans SC"/>
                <a:sym typeface="Noto Sans SC"/>
              </a:rPr>
              <a:t>原始PDF</a:t>
            </a:r>
            <a:r>
              <a:rPr lang="en-US" sz="1200" b="0" i="0" u="none" strike="noStrike" dirty="0">
                <a:solidFill>
                  <a:srgbClr val="FF0000"/>
                </a:solidFill>
                <a:latin typeface="Noto Sans SC"/>
                <a:ea typeface="Noto Sans SC"/>
                <a:cs typeface="Noto Sans SC"/>
                <a:sym typeface="Noto Sans SC"/>
              </a:rPr>
              <a:t> → </a:t>
            </a:r>
            <a:r>
              <a:rPr lang="en-US" sz="1200" b="0" i="0" u="none" strike="noStrike" dirty="0" err="1">
                <a:solidFill>
                  <a:srgbClr val="FF0000"/>
                </a:solidFill>
                <a:latin typeface="Noto Sans SC"/>
                <a:ea typeface="Noto Sans SC"/>
                <a:cs typeface="Noto Sans SC"/>
                <a:sym typeface="Noto Sans SC"/>
              </a:rPr>
              <a:t>Metadata记录</a:t>
            </a:r>
            <a:endParaRPr lang="en-US" sz="1200" b="0" i="0" u="none" strike="noStrike" dirty="0">
              <a:solidFill>
                <a:srgbClr val="FF0000"/>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2. </a:t>
            </a:r>
            <a:r>
              <a:rPr lang="en-US" sz="1200" b="0" i="0" u="none" strike="noStrike" dirty="0" err="1">
                <a:solidFill>
                  <a:srgbClr val="4B5563"/>
                </a:solidFill>
                <a:latin typeface="Noto Sans SC"/>
                <a:ea typeface="Noto Sans SC"/>
                <a:cs typeface="Noto Sans SC"/>
                <a:sym typeface="Noto Sans SC"/>
              </a:rPr>
              <a:t>解析文本</a:t>
            </a:r>
            <a:r>
              <a:rPr lang="en-US" sz="1200" b="0" i="0" u="none" strike="noStrike" dirty="0">
                <a:solidFill>
                  <a:srgbClr val="4B5563"/>
                </a:solidFill>
                <a:latin typeface="Noto Sans SC"/>
                <a:ea typeface="Noto Sans SC"/>
                <a:cs typeface="Noto Sans SC"/>
                <a:sym typeface="Noto Sans SC"/>
              </a:rPr>
              <a:t> → </a:t>
            </a:r>
            <a:r>
              <a:rPr lang="en-US" sz="1200" b="0" i="0" u="none" strike="noStrike" dirty="0" err="1">
                <a:solidFill>
                  <a:srgbClr val="4B5563"/>
                </a:solidFill>
                <a:latin typeface="Noto Sans SC"/>
                <a:ea typeface="Noto Sans SC"/>
                <a:cs typeface="Noto Sans SC"/>
                <a:sym typeface="Noto Sans SC"/>
              </a:rPr>
              <a:t>Section检查</a:t>
            </a: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3. </a:t>
            </a:r>
            <a:r>
              <a:rPr lang="en-US" sz="1200" b="0" i="0" u="none" strike="noStrike" dirty="0" err="1">
                <a:solidFill>
                  <a:srgbClr val="4B5563"/>
                </a:solidFill>
                <a:latin typeface="Noto Sans SC"/>
                <a:ea typeface="Noto Sans SC"/>
                <a:cs typeface="Noto Sans SC"/>
                <a:sym typeface="Noto Sans SC"/>
              </a:rPr>
              <a:t>抽取JSON</a:t>
            </a:r>
            <a:r>
              <a:rPr lang="en-US" sz="1200" b="0" i="0" u="none" strike="noStrike" dirty="0">
                <a:solidFill>
                  <a:srgbClr val="4B5563"/>
                </a:solidFill>
                <a:latin typeface="Noto Sans SC"/>
                <a:ea typeface="Noto Sans SC"/>
                <a:cs typeface="Noto Sans SC"/>
                <a:sym typeface="Noto Sans SC"/>
              </a:rPr>
              <a:t> → </a:t>
            </a:r>
            <a:r>
              <a:rPr lang="en-US" sz="1200" b="0" i="0" u="none" strike="noStrike" dirty="0" err="1">
                <a:solidFill>
                  <a:srgbClr val="4B5563"/>
                </a:solidFill>
                <a:latin typeface="Noto Sans SC"/>
                <a:ea typeface="Noto Sans SC"/>
                <a:cs typeface="Noto Sans SC"/>
                <a:sym typeface="Noto Sans SC"/>
              </a:rPr>
              <a:t>Pydantic校验</a:t>
            </a: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4. </a:t>
            </a:r>
            <a:r>
              <a:rPr lang="en-US" sz="1200" b="0" i="0" u="none" strike="noStrike" dirty="0" err="1">
                <a:solidFill>
                  <a:srgbClr val="4B5563"/>
                </a:solidFill>
                <a:latin typeface="Noto Sans SC"/>
                <a:ea typeface="Noto Sans SC"/>
                <a:cs typeface="Noto Sans SC"/>
                <a:sym typeface="Noto Sans SC"/>
              </a:rPr>
              <a:t>最终结构化结果</a:t>
            </a:r>
            <a:endParaRPr lang="en-US" sz="1200" b="0" i="0" u="none" strike="noStrike" dirty="0">
              <a:solidFill>
                <a:srgbClr val="4B5563"/>
              </a:solidFill>
              <a:latin typeface="Noto Sans SC"/>
              <a:ea typeface="Noto Sans SC"/>
              <a:cs typeface="Noto Sans SC"/>
              <a:sym typeface="Noto Sans SC"/>
            </a:endParaRPr>
          </a:p>
        </p:txBody>
      </p:sp>
      <p:sp>
        <p:nvSpPr>
          <p:cNvPr id="12" name="AutoShape 2">
            <a:extLst>
              <a:ext uri="{FF2B5EF4-FFF2-40B4-BE49-F238E27FC236}">
                <a16:creationId xmlns:a16="http://schemas.microsoft.com/office/drawing/2014/main" id="{B90D8EC5-0C7B-AD0B-335B-EC756211130E}"/>
              </a:ext>
            </a:extLst>
          </p:cNvPr>
          <p:cNvSpPr/>
          <p:nvPr/>
        </p:nvSpPr>
        <p:spPr>
          <a:xfrm>
            <a:off x="762000" y="3937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111827"/>
                </a:solidFill>
                <a:latin typeface="Noto Sans SC"/>
                <a:ea typeface="Noto Sans SC"/>
                <a:cs typeface="Noto Sans SC"/>
                <a:sym typeface="Noto Sans SC"/>
              </a:rPr>
              <a:t>07 Demo </a:t>
            </a:r>
            <a:r>
              <a:rPr lang="zh-CN" altLang="en-US" sz="3600" b="1" i="0" u="none" strike="noStrike" dirty="0">
                <a:solidFill>
                  <a:srgbClr val="111827"/>
                </a:solidFill>
                <a:latin typeface="Noto Sans SC"/>
                <a:ea typeface="Noto Sans SC"/>
                <a:cs typeface="Noto Sans SC"/>
                <a:sym typeface="Noto Sans SC"/>
              </a:rPr>
              <a:t>演示环节</a:t>
            </a:r>
          </a:p>
        </p:txBody>
      </p:sp>
      <p:sp>
        <p:nvSpPr>
          <p:cNvPr id="3" name="AutoShape 9">
            <a:extLst>
              <a:ext uri="{FF2B5EF4-FFF2-40B4-BE49-F238E27FC236}">
                <a16:creationId xmlns:a16="http://schemas.microsoft.com/office/drawing/2014/main" id="{9C51ED19-796F-CD0E-8C33-62BD471C79DF}"/>
              </a:ext>
            </a:extLst>
          </p:cNvPr>
          <p:cNvSpPr/>
          <p:nvPr/>
        </p:nvSpPr>
        <p:spPr>
          <a:xfrm>
            <a:off x="4259943" y="5248277"/>
            <a:ext cx="7932057" cy="1059544"/>
          </a:xfrm>
          <a:prstGeom prst="rect">
            <a:avLst/>
          </a:prstGeom>
          <a:noFill/>
          <a:ln w="12700" cap="flat" cmpd="sng">
            <a:noFill/>
            <a:prstDash val="solid"/>
            <a:round/>
          </a:ln>
        </p:spPr>
        <p:txBody>
          <a:bodyPr vert="horz" wrap="square" lIns="0" tIns="0" rIns="0" bIns="0" rtlCol="0" anchor="ctr" anchorCtr="0"/>
          <a:lstStyle/>
          <a:p>
            <a:pPr>
              <a:lnSpc>
                <a:spcPts val="1650"/>
              </a:lnSpc>
              <a:buNone/>
            </a:pPr>
            <a:r>
              <a:rPr lang="zh-CN" altLang="zh-CN" sz="800" b="0" dirty="0">
                <a:solidFill>
                  <a:srgbClr val="31353A"/>
                </a:solidFill>
                <a:effectLst/>
                <a:latin typeface="JetBrains Mono"/>
              </a:rPr>
              <a:t>oc_id,</a:t>
            </a:r>
            <a:r>
              <a:rPr lang="zh-CN" altLang="zh-CN" sz="800" b="0" dirty="0">
                <a:solidFill>
                  <a:srgbClr val="5F36B2"/>
                </a:solidFill>
                <a:effectLst/>
                <a:latin typeface="JetBrains Mono"/>
              </a:rPr>
              <a:t>stock_code,</a:t>
            </a:r>
            <a:r>
              <a:rPr lang="zh-CN" altLang="zh-CN" sz="800" b="0" dirty="0">
                <a:solidFill>
                  <a:srgbClr val="4078F2"/>
                </a:solidFill>
                <a:effectLst/>
                <a:latin typeface="JetBrains Mono"/>
              </a:rPr>
              <a:t>stock_name,</a:t>
            </a:r>
            <a:r>
              <a:rPr lang="zh-CN" altLang="zh-CN" sz="800" b="0" dirty="0">
                <a:solidFill>
                  <a:srgbClr val="8393A3"/>
                </a:solidFill>
                <a:effectLst/>
                <a:latin typeface="JetBrains Mono"/>
              </a:rPr>
              <a:t>market,</a:t>
            </a:r>
            <a:r>
              <a:rPr lang="zh-CN" altLang="zh-CN" sz="800" b="0" dirty="0">
                <a:solidFill>
                  <a:srgbClr val="4DA621"/>
                </a:solidFill>
                <a:effectLst/>
                <a:latin typeface="JetBrains Mono"/>
              </a:rPr>
              <a:t>announcement_title,</a:t>
            </a:r>
            <a:r>
              <a:rPr lang="zh-CN" altLang="zh-CN" sz="800" b="0" dirty="0">
                <a:solidFill>
                  <a:srgbClr val="C99100"/>
                </a:solidFill>
                <a:effectLst/>
                <a:latin typeface="JetBrains Mono"/>
              </a:rPr>
              <a:t>announcement_type,</a:t>
            </a:r>
            <a:r>
              <a:rPr lang="zh-CN" altLang="zh-CN" sz="800" b="0" dirty="0">
                <a:solidFill>
                  <a:srgbClr val="E54595"/>
                </a:solidFill>
                <a:effectLst/>
                <a:latin typeface="JetBrains Mono"/>
              </a:rPr>
              <a:t>publish_date,</a:t>
            </a:r>
            <a:r>
              <a:rPr lang="zh-CN" altLang="zh-CN" sz="800" b="0" dirty="0">
                <a:solidFill>
                  <a:srgbClr val="B15EF2"/>
                </a:solidFill>
                <a:effectLst/>
                <a:latin typeface="JetBrains Mono"/>
              </a:rPr>
              <a:t>url,</a:t>
            </a:r>
            <a:r>
              <a:rPr lang="zh-CN" altLang="zh-CN" sz="800" b="1" dirty="0">
                <a:solidFill>
                  <a:srgbClr val="000080"/>
                </a:solidFill>
                <a:effectLst/>
                <a:latin typeface="JetBrains Mono"/>
              </a:rPr>
              <a:t>pdf_url,</a:t>
            </a:r>
            <a:r>
              <a:rPr lang="zh-CN" altLang="zh-CN" sz="800" b="0" dirty="0">
                <a:solidFill>
                  <a:srgbClr val="CD3131"/>
                </a:solidFill>
                <a:effectLst/>
                <a:latin typeface="JetBrains Mono"/>
              </a:rPr>
              <a:t>local_pdf_path,</a:t>
            </a:r>
            <a:r>
              <a:rPr lang="zh-CN" altLang="zh-CN" sz="800" b="0" dirty="0">
                <a:solidFill>
                  <a:srgbClr val="31353A"/>
                </a:solidFill>
                <a:effectLst/>
                <a:latin typeface="JetBrains Mono"/>
              </a:rPr>
              <a:t>download_status,</a:t>
            </a:r>
            <a:r>
              <a:rPr lang="zh-CN" altLang="zh-CN" sz="800" b="0" dirty="0">
                <a:solidFill>
                  <a:srgbClr val="5F36B2"/>
                </a:solidFill>
                <a:effectLst/>
                <a:latin typeface="JetBrains Mono"/>
              </a:rPr>
              <a:t>source,</a:t>
            </a:r>
            <a:r>
              <a:rPr lang="zh-CN" altLang="zh-CN" sz="800" b="0" dirty="0">
                <a:solidFill>
                  <a:srgbClr val="4078F2"/>
                </a:solidFill>
                <a:effectLst/>
                <a:latin typeface="JetBrains Mono"/>
              </a:rPr>
              <a:t>crawl_time,</a:t>
            </a:r>
            <a:r>
              <a:rPr lang="zh-CN" altLang="zh-CN" sz="800" b="0" dirty="0">
                <a:solidFill>
                  <a:srgbClr val="8393A3"/>
                </a:solidFill>
                <a:effectLst/>
                <a:latin typeface="JetBrains Mono"/>
              </a:rPr>
              <a:t>error_message,</a:t>
            </a:r>
            <a:r>
              <a:rPr lang="zh-CN" altLang="zh-CN" sz="800" b="0" dirty="0">
                <a:solidFill>
                  <a:srgbClr val="4DA621"/>
                </a:solidFill>
                <a:effectLst/>
                <a:latin typeface="JetBrains Mono"/>
              </a:rPr>
              <a:t>notes</a:t>
            </a:r>
            <a:endParaRPr lang="zh-CN" altLang="zh-CN" sz="800" b="0" dirty="0">
              <a:solidFill>
                <a:srgbClr val="31353A"/>
              </a:solidFill>
              <a:effectLst/>
              <a:latin typeface="JetBrains Mono"/>
            </a:endParaRPr>
          </a:p>
          <a:p>
            <a:pPr>
              <a:lnSpc>
                <a:spcPts val="1650"/>
              </a:lnSpc>
              <a:buNone/>
            </a:pPr>
            <a:r>
              <a:rPr lang="zh-CN" altLang="zh-CN" sz="800" b="0" dirty="0">
                <a:solidFill>
                  <a:srgbClr val="31353A"/>
                </a:solidFill>
                <a:effectLst/>
                <a:latin typeface="JetBrains Mono"/>
              </a:rPr>
              <a:t>002200_20250412_5b117085,</a:t>
            </a:r>
            <a:r>
              <a:rPr lang="zh-CN" altLang="zh-CN" sz="800" b="0" dirty="0">
                <a:solidFill>
                  <a:srgbClr val="5F36B2"/>
                </a:solidFill>
                <a:effectLst/>
                <a:latin typeface="JetBrains Mono"/>
              </a:rPr>
              <a:t>002200,</a:t>
            </a:r>
            <a:r>
              <a:rPr lang="zh-CN" altLang="zh-CN" sz="800" b="0" dirty="0">
                <a:solidFill>
                  <a:srgbClr val="4078F2"/>
                </a:solidFill>
                <a:effectLst/>
                <a:latin typeface="JetBrains Mono"/>
              </a:rPr>
              <a:t>云南交投生态科技股份有限公司,</a:t>
            </a:r>
            <a:r>
              <a:rPr lang="zh-CN" altLang="zh-CN" sz="800" b="0" dirty="0">
                <a:solidFill>
                  <a:srgbClr val="8393A3"/>
                </a:solidFill>
                <a:effectLst/>
                <a:latin typeface="JetBrains Mono"/>
              </a:rPr>
              <a:t>sz,</a:t>
            </a:r>
            <a:r>
              <a:rPr lang="zh-CN" altLang="zh-CN" sz="800" b="0" dirty="0">
                <a:solidFill>
                  <a:srgbClr val="4DA621"/>
                </a:solidFill>
                <a:effectLst/>
                <a:latin typeface="JetBrains Mono"/>
              </a:rPr>
              <a:t>关于收到中标通知书的公告,</a:t>
            </a:r>
            <a:r>
              <a:rPr lang="zh-CN" altLang="zh-CN" sz="800" b="0" dirty="0">
                <a:solidFill>
                  <a:srgbClr val="C99100"/>
                </a:solidFill>
                <a:effectLst/>
                <a:latin typeface="JetBrains Mono"/>
              </a:rPr>
              <a:t>中标通知书公告,</a:t>
            </a:r>
            <a:r>
              <a:rPr lang="zh-CN" altLang="zh-CN" sz="800" b="0" dirty="0">
                <a:solidFill>
                  <a:srgbClr val="E54595"/>
                </a:solidFill>
                <a:effectLst/>
                <a:latin typeface="JetBrains Mono"/>
              </a:rPr>
              <a:t>2025-04-12,</a:t>
            </a:r>
            <a:r>
              <a:rPr lang="zh-CN" altLang="zh-CN" sz="800" b="0" dirty="0">
                <a:solidFill>
                  <a:srgbClr val="B15EF2"/>
                </a:solidFill>
                <a:effectLst/>
                <a:latin typeface="JetBrains Mono"/>
              </a:rPr>
              <a:t>https://www.cninfo.com.cn/,</a:t>
            </a:r>
            <a:r>
              <a:rPr lang="zh-CN" altLang="zh-CN" sz="800" b="1" dirty="0">
                <a:solidFill>
                  <a:srgbClr val="000080"/>
                </a:solidFill>
                <a:effectLst/>
                <a:latin typeface="JetBrains Mono"/>
              </a:rPr>
              <a:t>https://static.cninfo.com.cn/finalpage/2025-04-12/1223071238.PDF,</a:t>
            </a:r>
            <a:r>
              <a:rPr lang="zh-CN" altLang="zh-CN" sz="800" b="0" dirty="0">
                <a:solidFill>
                  <a:srgbClr val="CD3131"/>
                </a:solidFill>
                <a:effectLst/>
                <a:latin typeface="JetBrains Mono"/>
              </a:rPr>
              <a:t>data/pdf/002200_002200_20250412_5b117085.pdf,</a:t>
            </a:r>
            <a:r>
              <a:rPr lang="zh-CN" altLang="zh-CN" sz="800" b="0" dirty="0">
                <a:solidFill>
                  <a:srgbClr val="31353A"/>
                </a:solidFill>
                <a:effectLst/>
                <a:latin typeface="JetBrains Mono"/>
              </a:rPr>
              <a:t>success,</a:t>
            </a:r>
            <a:r>
              <a:rPr lang="zh-CN" altLang="zh-CN" sz="800" b="0" dirty="0">
                <a:solidFill>
                  <a:srgbClr val="5F36B2"/>
                </a:solidFill>
                <a:effectLst/>
                <a:latin typeface="JetBrains Mono"/>
              </a:rPr>
              <a:t>cninfo,</a:t>
            </a:r>
            <a:r>
              <a:rPr lang="zh-CN" altLang="zh-CN" sz="800" b="0" dirty="0">
                <a:solidFill>
                  <a:srgbClr val="4078F2"/>
                </a:solidFill>
                <a:effectLst/>
                <a:latin typeface="JetBrains Mono"/>
              </a:rPr>
              <a:t>2026-05-28T22:28:00,</a:t>
            </a:r>
            <a:r>
              <a:rPr lang="zh-CN" altLang="zh-CN" sz="800" b="0" dirty="0">
                <a:solidFill>
                  <a:srgbClr val="8393A3"/>
                </a:solidFill>
                <a:effectLst/>
                <a:latin typeface="JetBrains Mono"/>
              </a:rPr>
              <a:t>,</a:t>
            </a:r>
            <a:r>
              <a:rPr lang="zh-CN" altLang="zh-CN" sz="800" b="0" dirty="0">
                <a:solidFill>
                  <a:srgbClr val="4DA621"/>
                </a:solidFill>
                <a:effectLst/>
                <a:latin typeface="JetBrains Mono"/>
              </a:rPr>
              <a:t>final repo demo record</a:t>
            </a:r>
            <a:endParaRPr lang="zh-CN" altLang="zh-CN" sz="800" b="0" dirty="0">
              <a:solidFill>
                <a:srgbClr val="31353A"/>
              </a:solidFill>
              <a:effectLst/>
              <a:latin typeface="JetBrains Mono"/>
            </a:endParaRPr>
          </a:p>
        </p:txBody>
      </p:sp>
      <p:pic>
        <p:nvPicPr>
          <p:cNvPr id="5" name="图片 4">
            <a:extLst>
              <a:ext uri="{FF2B5EF4-FFF2-40B4-BE49-F238E27FC236}">
                <a16:creationId xmlns:a16="http://schemas.microsoft.com/office/drawing/2014/main" id="{854CF634-9E6C-F157-80C4-AA8FC35CCF3D}"/>
              </a:ext>
            </a:extLst>
          </p:cNvPr>
          <p:cNvPicPr>
            <a:picLocks noChangeAspect="1"/>
          </p:cNvPicPr>
          <p:nvPr/>
        </p:nvPicPr>
        <p:blipFill>
          <a:blip r:embed="rId3"/>
          <a:stretch>
            <a:fillRect/>
          </a:stretch>
        </p:blipFill>
        <p:spPr>
          <a:xfrm>
            <a:off x="4081803" y="1609723"/>
            <a:ext cx="2450148" cy="3425371"/>
          </a:xfrm>
          <a:prstGeom prst="rect">
            <a:avLst/>
          </a:prstGeom>
        </p:spPr>
      </p:pic>
      <p:pic>
        <p:nvPicPr>
          <p:cNvPr id="8" name="图片 7">
            <a:extLst>
              <a:ext uri="{FF2B5EF4-FFF2-40B4-BE49-F238E27FC236}">
                <a16:creationId xmlns:a16="http://schemas.microsoft.com/office/drawing/2014/main" id="{167AFEBB-2107-8FD3-6D4C-4B9273938EE1}"/>
              </a:ext>
            </a:extLst>
          </p:cNvPr>
          <p:cNvPicPr>
            <a:picLocks noChangeAspect="1"/>
          </p:cNvPicPr>
          <p:nvPr/>
        </p:nvPicPr>
        <p:blipFill>
          <a:blip r:embed="rId4"/>
          <a:stretch>
            <a:fillRect/>
          </a:stretch>
        </p:blipFill>
        <p:spPr>
          <a:xfrm>
            <a:off x="6667649" y="1609722"/>
            <a:ext cx="2594465" cy="3425372"/>
          </a:xfrm>
          <a:prstGeom prst="rect">
            <a:avLst/>
          </a:prstGeom>
        </p:spPr>
      </p:pic>
      <p:pic>
        <p:nvPicPr>
          <p:cNvPr id="15" name="图片 14">
            <a:extLst>
              <a:ext uri="{FF2B5EF4-FFF2-40B4-BE49-F238E27FC236}">
                <a16:creationId xmlns:a16="http://schemas.microsoft.com/office/drawing/2014/main" id="{E1C90592-4412-8DA0-F0D9-0321EA585D4A}"/>
              </a:ext>
            </a:extLst>
          </p:cNvPr>
          <p:cNvPicPr>
            <a:picLocks noChangeAspect="1"/>
          </p:cNvPicPr>
          <p:nvPr/>
        </p:nvPicPr>
        <p:blipFill>
          <a:blip r:embed="rId5"/>
          <a:stretch>
            <a:fillRect/>
          </a:stretch>
        </p:blipFill>
        <p:spPr>
          <a:xfrm>
            <a:off x="9405842" y="1569808"/>
            <a:ext cx="2642429" cy="3425372"/>
          </a:xfrm>
          <a:prstGeom prst="rect">
            <a:avLst/>
          </a:prstGeom>
        </p:spPr>
      </p:pic>
    </p:spTree>
    <p:extLst>
      <p:ext uri="{BB962C8B-B14F-4D97-AF65-F5344CB8AC3E}">
        <p14:creationId xmlns:p14="http://schemas.microsoft.com/office/powerpoint/2010/main" val="751615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77CBE-6B2B-6882-C8E3-1D96C203525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F13E2C7-6299-E586-2171-1A71B2704577}"/>
              </a:ext>
            </a:extLst>
          </p:cNvPr>
          <p:cNvSpPr/>
          <p:nvPr/>
        </p:nvSpPr>
        <p:spPr>
          <a:xfrm>
            <a:off x="0" y="0"/>
            <a:ext cx="12192000" cy="6858000"/>
          </a:xfrm>
          <a:prstGeom prst="roundRect">
            <a:avLst>
              <a:gd name="adj" fmla="val 0"/>
            </a:avLst>
          </a:prstGeom>
          <a:solidFill>
            <a:srgbClr val="F7FAFC">
              <a:alpha val="92000"/>
            </a:srgbClr>
          </a:solidFill>
          <a:ln w="25400" cap="flat" cmpd="sng">
            <a:noFill/>
            <a:prstDash val="solid"/>
            <a:round/>
          </a:ln>
        </p:spPr>
        <p:txBody>
          <a:bodyPr vert="horz" wrap="square" lIns="0" tIns="0" rIns="0" bIns="0" rtlCol="0" anchor="ctr" anchorCtr="0"/>
          <a:lstStyle/>
          <a:p>
            <a:pPr algn="ctr">
              <a:defRPr/>
            </a:pPr>
            <a:endParaRPr lang="zh-CN" altLang="en-US" dirty="0"/>
          </a:p>
        </p:txBody>
      </p:sp>
      <p:sp>
        <p:nvSpPr>
          <p:cNvPr id="7" name="AutoShape 7">
            <a:extLst>
              <a:ext uri="{FF2B5EF4-FFF2-40B4-BE49-F238E27FC236}">
                <a16:creationId xmlns:a16="http://schemas.microsoft.com/office/drawing/2014/main" id="{946C9F28-C421-A71A-AA9E-9297711392AB}"/>
              </a:ext>
            </a:extLst>
          </p:cNvPr>
          <p:cNvSpPr/>
          <p:nvPr/>
        </p:nvSpPr>
        <p:spPr>
          <a:xfrm>
            <a:off x="460829" y="2135414"/>
            <a:ext cx="3302000" cy="2540001"/>
          </a:xfrm>
          <a:prstGeom prst="roundRect">
            <a:avLst>
              <a:gd name="adj" fmla="val 4615"/>
            </a:avLst>
          </a:prstGeom>
          <a:solidFill>
            <a:srgbClr val="FFFFFF">
              <a:alpha val="100000"/>
            </a:srgbClr>
          </a:solidFill>
          <a:ln w="25400" cap="flat" cmpd="sng">
            <a:solidFill>
              <a:srgbClr val="2DD4BF">
                <a:alpha val="100000"/>
              </a:srgbClr>
            </a:solidFill>
            <a:prstDash val="solid"/>
            <a:round/>
          </a:ln>
          <a:effectLst>
            <a:outerShdw blurRad="190500" dist="76200" dir="5400000" algn="tl" rotWithShape="0">
              <a:srgbClr val="000000">
                <a:alpha val="8000"/>
              </a:srgbClr>
            </a:outerShdw>
          </a:effectLst>
        </p:spPr>
        <p:txBody>
          <a:bodyPr vert="horz" wrap="square" lIns="0" tIns="0" rIns="0" bIns="0" rtlCol="0" anchor="ctr" anchorCtr="0"/>
          <a:lstStyle/>
          <a:p>
            <a:pPr algn="ctr">
              <a:defRPr/>
            </a:pPr>
            <a:endParaRPr/>
          </a:p>
        </p:txBody>
      </p:sp>
      <p:sp>
        <p:nvSpPr>
          <p:cNvPr id="9" name="AutoShape 9">
            <a:extLst>
              <a:ext uri="{FF2B5EF4-FFF2-40B4-BE49-F238E27FC236}">
                <a16:creationId xmlns:a16="http://schemas.microsoft.com/office/drawing/2014/main" id="{2F1B469F-338A-3FC3-9E0C-C577E354E0CD}"/>
              </a:ext>
            </a:extLst>
          </p:cNvPr>
          <p:cNvSpPr/>
          <p:nvPr/>
        </p:nvSpPr>
        <p:spPr>
          <a:xfrm>
            <a:off x="714829" y="2135415"/>
            <a:ext cx="2794000" cy="254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dirty="0" err="1">
                <a:solidFill>
                  <a:srgbClr val="111827"/>
                </a:solidFill>
                <a:latin typeface="Noto Sans SC"/>
                <a:ea typeface="Noto Sans SC"/>
                <a:cs typeface="Noto Sans SC"/>
                <a:sym typeface="Noto Sans SC"/>
              </a:rPr>
              <a:t>展示顺序</a:t>
            </a:r>
            <a:endParaRPr lang="en-US" sz="1100" dirty="0"/>
          </a:p>
          <a:p>
            <a:pPr indent="0" algn="l">
              <a:lnSpc>
                <a:spcPct val="125000"/>
              </a:lnSpc>
            </a:pP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1. </a:t>
            </a:r>
            <a:r>
              <a:rPr lang="en-US" sz="1200" b="0" i="0" u="none" strike="noStrike" dirty="0" err="1">
                <a:solidFill>
                  <a:srgbClr val="4B5563"/>
                </a:solidFill>
                <a:latin typeface="Noto Sans SC"/>
                <a:ea typeface="Noto Sans SC"/>
                <a:cs typeface="Noto Sans SC"/>
                <a:sym typeface="Noto Sans SC"/>
              </a:rPr>
              <a:t>原始PDF</a:t>
            </a:r>
            <a:r>
              <a:rPr lang="en-US" sz="1200" b="0" i="0" u="none" strike="noStrike" dirty="0">
                <a:solidFill>
                  <a:srgbClr val="4B5563"/>
                </a:solidFill>
                <a:latin typeface="Noto Sans SC"/>
                <a:ea typeface="Noto Sans SC"/>
                <a:cs typeface="Noto Sans SC"/>
                <a:sym typeface="Noto Sans SC"/>
              </a:rPr>
              <a:t> → </a:t>
            </a:r>
            <a:r>
              <a:rPr lang="en-US" sz="1200" b="0" i="0" u="none" strike="noStrike" dirty="0" err="1">
                <a:solidFill>
                  <a:srgbClr val="4B5563"/>
                </a:solidFill>
                <a:latin typeface="Noto Sans SC"/>
                <a:ea typeface="Noto Sans SC"/>
                <a:cs typeface="Noto Sans SC"/>
                <a:sym typeface="Noto Sans SC"/>
              </a:rPr>
              <a:t>Metadata记录</a:t>
            </a: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b="0" i="0" u="none" strike="noStrike" dirty="0">
                <a:solidFill>
                  <a:srgbClr val="FF0000"/>
                </a:solidFill>
                <a:latin typeface="Noto Sans SC"/>
                <a:ea typeface="Noto Sans SC"/>
                <a:cs typeface="Noto Sans SC"/>
                <a:sym typeface="Noto Sans SC"/>
              </a:rPr>
              <a:t>2. </a:t>
            </a:r>
            <a:r>
              <a:rPr lang="en-US" sz="1200" b="0" i="0" u="none" strike="noStrike" dirty="0" err="1">
                <a:solidFill>
                  <a:srgbClr val="FF0000"/>
                </a:solidFill>
                <a:latin typeface="Noto Sans SC"/>
                <a:ea typeface="Noto Sans SC"/>
                <a:cs typeface="Noto Sans SC"/>
                <a:sym typeface="Noto Sans SC"/>
              </a:rPr>
              <a:t>解析文本</a:t>
            </a:r>
            <a:r>
              <a:rPr lang="en-US" sz="1200" b="0" i="0" u="none" strike="noStrike" dirty="0">
                <a:solidFill>
                  <a:srgbClr val="FF0000"/>
                </a:solidFill>
                <a:latin typeface="Noto Sans SC"/>
                <a:ea typeface="Noto Sans SC"/>
                <a:cs typeface="Noto Sans SC"/>
                <a:sym typeface="Noto Sans SC"/>
              </a:rPr>
              <a:t> → </a:t>
            </a:r>
            <a:r>
              <a:rPr lang="en-US" sz="1200" b="0" i="0" u="none" strike="noStrike" dirty="0" err="1">
                <a:solidFill>
                  <a:srgbClr val="FF0000"/>
                </a:solidFill>
                <a:latin typeface="Noto Sans SC"/>
                <a:ea typeface="Noto Sans SC"/>
                <a:cs typeface="Noto Sans SC"/>
                <a:sym typeface="Noto Sans SC"/>
              </a:rPr>
              <a:t>Section检查</a:t>
            </a:r>
            <a:endParaRPr lang="en-US" sz="1200" b="0" i="0" u="none" strike="noStrike" dirty="0">
              <a:solidFill>
                <a:srgbClr val="FF0000"/>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3. </a:t>
            </a:r>
            <a:r>
              <a:rPr lang="en-US" sz="1200" b="0" i="0" u="none" strike="noStrike" dirty="0" err="1">
                <a:solidFill>
                  <a:srgbClr val="4B5563"/>
                </a:solidFill>
                <a:latin typeface="Noto Sans SC"/>
                <a:ea typeface="Noto Sans SC"/>
                <a:cs typeface="Noto Sans SC"/>
                <a:sym typeface="Noto Sans SC"/>
              </a:rPr>
              <a:t>抽取JSON</a:t>
            </a:r>
            <a:r>
              <a:rPr lang="en-US" sz="1200" b="0" i="0" u="none" strike="noStrike" dirty="0">
                <a:solidFill>
                  <a:srgbClr val="4B5563"/>
                </a:solidFill>
                <a:latin typeface="Noto Sans SC"/>
                <a:ea typeface="Noto Sans SC"/>
                <a:cs typeface="Noto Sans SC"/>
                <a:sym typeface="Noto Sans SC"/>
              </a:rPr>
              <a:t> → </a:t>
            </a:r>
            <a:r>
              <a:rPr lang="en-US" sz="1200" b="0" i="0" u="none" strike="noStrike" dirty="0" err="1">
                <a:solidFill>
                  <a:srgbClr val="4B5563"/>
                </a:solidFill>
                <a:latin typeface="Noto Sans SC"/>
                <a:ea typeface="Noto Sans SC"/>
                <a:cs typeface="Noto Sans SC"/>
                <a:sym typeface="Noto Sans SC"/>
              </a:rPr>
              <a:t>Pydantic校验</a:t>
            </a: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4. </a:t>
            </a:r>
            <a:r>
              <a:rPr lang="en-US" sz="1200" b="0" i="0" u="none" strike="noStrike" dirty="0" err="1">
                <a:solidFill>
                  <a:srgbClr val="4B5563"/>
                </a:solidFill>
                <a:latin typeface="Noto Sans SC"/>
                <a:ea typeface="Noto Sans SC"/>
                <a:cs typeface="Noto Sans SC"/>
                <a:sym typeface="Noto Sans SC"/>
              </a:rPr>
              <a:t>最终结构化结果</a:t>
            </a:r>
            <a:endParaRPr lang="en-US" sz="1200" b="0" i="0" u="none" strike="noStrike" dirty="0">
              <a:solidFill>
                <a:srgbClr val="4B5563"/>
              </a:solidFill>
              <a:latin typeface="Noto Sans SC"/>
              <a:ea typeface="Noto Sans SC"/>
              <a:cs typeface="Noto Sans SC"/>
              <a:sym typeface="Noto Sans SC"/>
            </a:endParaRPr>
          </a:p>
        </p:txBody>
      </p:sp>
      <p:sp>
        <p:nvSpPr>
          <p:cNvPr id="12" name="AutoShape 2">
            <a:extLst>
              <a:ext uri="{FF2B5EF4-FFF2-40B4-BE49-F238E27FC236}">
                <a16:creationId xmlns:a16="http://schemas.microsoft.com/office/drawing/2014/main" id="{B1FB355A-AC3A-C6E1-C9C6-2C2D8F52D43F}"/>
              </a:ext>
            </a:extLst>
          </p:cNvPr>
          <p:cNvSpPr/>
          <p:nvPr/>
        </p:nvSpPr>
        <p:spPr>
          <a:xfrm>
            <a:off x="762000" y="3937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111827"/>
                </a:solidFill>
                <a:latin typeface="Noto Sans SC"/>
                <a:ea typeface="Noto Sans SC"/>
                <a:cs typeface="Noto Sans SC"/>
                <a:sym typeface="Noto Sans SC"/>
              </a:rPr>
              <a:t>07 Demo </a:t>
            </a:r>
            <a:r>
              <a:rPr lang="zh-CN" altLang="en-US" sz="3600" b="1" i="0" u="none" strike="noStrike" dirty="0">
                <a:solidFill>
                  <a:srgbClr val="111827"/>
                </a:solidFill>
                <a:latin typeface="Noto Sans SC"/>
                <a:ea typeface="Noto Sans SC"/>
                <a:cs typeface="Noto Sans SC"/>
                <a:sym typeface="Noto Sans SC"/>
              </a:rPr>
              <a:t>演示环节</a:t>
            </a:r>
          </a:p>
        </p:txBody>
      </p:sp>
      <p:sp>
        <p:nvSpPr>
          <p:cNvPr id="4" name="AutoShape 9">
            <a:extLst>
              <a:ext uri="{FF2B5EF4-FFF2-40B4-BE49-F238E27FC236}">
                <a16:creationId xmlns:a16="http://schemas.microsoft.com/office/drawing/2014/main" id="{DE268AE6-7AC9-3A79-D61F-B33092348878}"/>
              </a:ext>
            </a:extLst>
          </p:cNvPr>
          <p:cNvSpPr/>
          <p:nvPr/>
        </p:nvSpPr>
        <p:spPr>
          <a:xfrm>
            <a:off x="4016829" y="3172734"/>
            <a:ext cx="7953828" cy="677181"/>
          </a:xfrm>
          <a:prstGeom prst="rect">
            <a:avLst/>
          </a:prstGeom>
          <a:noFill/>
          <a:ln w="12700" cap="flat" cmpd="sng">
            <a:noFill/>
            <a:prstDash val="solid"/>
            <a:round/>
          </a:ln>
        </p:spPr>
        <p:txBody>
          <a:bodyPr vert="horz" wrap="square" lIns="0" tIns="0" rIns="0" bIns="0" rtlCol="0" anchor="ctr" anchorCtr="0"/>
          <a:lstStyle/>
          <a:p>
            <a:pPr>
              <a:lnSpc>
                <a:spcPts val="1650"/>
              </a:lnSpc>
              <a:buNone/>
            </a:pPr>
            <a:r>
              <a:rPr lang="zh-CN" altLang="zh-CN" sz="1000" b="0" dirty="0">
                <a:solidFill>
                  <a:srgbClr val="31353A"/>
                </a:solidFill>
                <a:effectLst/>
                <a:latin typeface="JetBrains Mono"/>
              </a:rPr>
              <a:t>{</a:t>
            </a:r>
            <a:r>
              <a:rPr lang="zh-CN" altLang="zh-CN" sz="1000" b="0" dirty="0">
                <a:solidFill>
                  <a:srgbClr val="0451A5"/>
                </a:solidFill>
                <a:effectLst/>
                <a:latin typeface="JetBrains Mono"/>
              </a:rPr>
              <a:t>"doc_id"</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"002200_20250412_5b117085"</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"stock_code"</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"002200"</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"stock_name"</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"云南交投生态科技股份有限公司"</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"title"</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"关于收到中标通知书的公告"</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"pdf_path"</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"data/pdf/002200_002200_20250412_5b117085.pdf"</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"markdown_path"</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"data/parsed/markdown/002200_20250412_5b117085.md"</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"parser"</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"mineru"</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"pages"</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"page_no"</a:t>
            </a:r>
            <a:r>
              <a:rPr lang="zh-CN" altLang="zh-CN" sz="1000" b="0" dirty="0">
                <a:solidFill>
                  <a:srgbClr val="31353A"/>
                </a:solidFill>
                <a:effectLst/>
                <a:latin typeface="JetBrains Mono"/>
              </a:rPr>
              <a:t>:</a:t>
            </a:r>
            <a:r>
              <a:rPr lang="zh-CN" altLang="zh-CN" sz="1000" b="0" dirty="0">
                <a:solidFill>
                  <a:srgbClr val="E54595"/>
                </a:solidFill>
                <a:effectLst/>
                <a:latin typeface="JetBrains Mono"/>
              </a:rPr>
              <a:t>1</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"text"</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"证券代码：002200 证券简称：ST交投 公告编号：2025-030</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云南交投生态科技股份有限公司</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关于收到中标通知书的公告</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特别提示：根据本次中标项目的《招标文件》要求，项目中标后，中标投资人应按照《中华人民共和国公司法》等规定组建项目公司。后续在组建项目公司及签订相关合同或协议过程中，若涉及关联交易的，公司还将按照相关监管要求履行关联交易审议程序，能否最终参与项目公司组建，并参与该项目涉及的绿化及环境保护工程施工，以及具体实施份额暂不确定。公司将根据项目进展情况及时履行信息披露义务。敬请广大投资者注意投资风险。</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一、中标情况</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云南交投生态科技股份有限公司经查询全国公共资源交易平台云南省公共资源交易信息网获悉，公司作为联合体成员之一，被确定为“G78汕昆高速／G80广昆高速石林至昆明段（改扩建）工程项目投资人招标”的第一中标候选人。近日公司收到该项目的《中标通知书》，公司参与的联合体被确定为该项目的中标人。"</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"page_no"</a:t>
            </a:r>
            <a:r>
              <a:rPr lang="zh-CN" altLang="zh-CN" sz="1000" b="0" dirty="0">
                <a:solidFill>
                  <a:srgbClr val="31353A"/>
                </a:solidFill>
                <a:effectLst/>
                <a:latin typeface="JetBrains Mono"/>
              </a:rPr>
              <a:t>:</a:t>
            </a:r>
            <a:r>
              <a:rPr lang="zh-CN" altLang="zh-CN" sz="1000" b="0" dirty="0">
                <a:solidFill>
                  <a:srgbClr val="E54595"/>
                </a:solidFill>
                <a:effectLst/>
                <a:latin typeface="JetBrains Mono"/>
              </a:rPr>
              <a:t>2</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"text"</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"二、中标项目情况</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1.项目名称：G78汕昆高速／G80广昆高速石林至昆明段（改扩建）工程项目投资人招标。</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2.项目总投资及建设规模：项目路线全长73.80公里，新建里程22.21公里，沿老路改建里程51.59公里。项目估算总投资为211.06亿元。</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3.中标金额：通行费下浮率为0%，补偿金首次支付比例为80%。</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4.项目招标人：云南省交通运输厅委托云南省交通发展投资有限责任公司作为本次招标活动的招标执行机构。</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5.合作方式：中标投资人将依法组建项目公司，云南省交通运输厅将与项目公司签订《特许权协议》。"</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"page_no"</a:t>
            </a:r>
            <a:r>
              <a:rPr lang="zh-CN" altLang="zh-CN" sz="1000" b="0" dirty="0">
                <a:solidFill>
                  <a:srgbClr val="31353A"/>
                </a:solidFill>
                <a:effectLst/>
                <a:latin typeface="JetBrains Mono"/>
              </a:rPr>
              <a:t>:</a:t>
            </a:r>
            <a:r>
              <a:rPr lang="zh-CN" altLang="zh-CN" sz="1000" b="0" dirty="0">
                <a:solidFill>
                  <a:srgbClr val="E54595"/>
                </a:solidFill>
                <a:effectLst/>
                <a:latin typeface="JetBrains Mono"/>
              </a:rPr>
              <a:t>3</a:t>
            </a:r>
            <a:r>
              <a:rPr lang="zh-CN" altLang="zh-CN" sz="1000" b="0" dirty="0">
                <a:solidFill>
                  <a:srgbClr val="31353A"/>
                </a:solidFill>
                <a:effectLst/>
                <a:latin typeface="JetBrains Mono"/>
              </a:rPr>
              <a:t>,</a:t>
            </a:r>
            <a:r>
              <a:rPr lang="zh-CN" altLang="zh-CN" sz="1000" b="0" dirty="0">
                <a:solidFill>
                  <a:srgbClr val="0451A5"/>
                </a:solidFill>
                <a:effectLst/>
                <a:latin typeface="JetBrains Mono"/>
              </a:rPr>
              <a:t>"text"</a:t>
            </a:r>
            <a:r>
              <a:rPr lang="zh-CN" altLang="zh-CN" sz="1000" b="0" dirty="0">
                <a:solidFill>
                  <a:srgbClr val="31353A"/>
                </a:solidFill>
                <a:effectLst/>
                <a:latin typeface="JetBrains Mono"/>
              </a:rPr>
              <a:t>:</a:t>
            </a:r>
            <a:r>
              <a:rPr lang="zh-CN" altLang="zh-CN" sz="1000" b="0" dirty="0">
                <a:solidFill>
                  <a:srgbClr val="4DA621"/>
                </a:solidFill>
                <a:effectLst/>
                <a:latin typeface="JetBrains Mono"/>
              </a:rPr>
              <a:t>"三、中标项目对公司经营的影响</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本次公司参与的联合体中标的项目，预计不会对公司2025年度经营业绩产生影响。若能顺利参与该项目绿化及环境保护工程施工，将会对公司未来年度经营业绩产生影响。</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四、风险提示</a:t>
            </a:r>
            <a:r>
              <a:rPr lang="zh-CN" altLang="zh-CN" sz="1000" b="0" dirty="0">
                <a:solidFill>
                  <a:srgbClr val="175CE6"/>
                </a:solidFill>
                <a:effectLst/>
                <a:latin typeface="JetBrains Mono"/>
              </a:rPr>
              <a:t>\n</a:t>
            </a:r>
            <a:r>
              <a:rPr lang="zh-CN" altLang="zh-CN" sz="1000" b="0" dirty="0">
                <a:solidFill>
                  <a:srgbClr val="4DA621"/>
                </a:solidFill>
                <a:effectLst/>
                <a:latin typeface="JetBrains Mono"/>
              </a:rPr>
              <a:t>目前公司及联合体尚未与招标人签署正式协议。后续在组建项目公司及签订相关协议或合同过程中，若涉及关联交易的，公司还将按照相关监管要求履行关联交易审议程序，能否最终参与项目公司组建，并参与该项目涉及的绿化及环境保护工程施工，以及具体实施份额暂不确定。公司将根据项目进展情况及时履行信息披露义务。敬请广大投资者注意投资风险。"</a:t>
            </a:r>
            <a:r>
              <a:rPr lang="zh-CN" altLang="zh-CN" sz="1000" b="0" dirty="0">
                <a:solidFill>
                  <a:srgbClr val="31353A"/>
                </a:solidFill>
                <a:effectLst/>
                <a:latin typeface="JetBrains Mono"/>
              </a:rPr>
              <a:t>}]}</a:t>
            </a:r>
          </a:p>
        </p:txBody>
      </p:sp>
    </p:spTree>
    <p:extLst>
      <p:ext uri="{BB962C8B-B14F-4D97-AF65-F5344CB8AC3E}">
        <p14:creationId xmlns:p14="http://schemas.microsoft.com/office/powerpoint/2010/main" val="391839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E7B54-C490-9F76-19B9-4AD67D7C58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458BC4D-3A34-7C8C-58CB-87290EA1DE7B}"/>
              </a:ext>
            </a:extLst>
          </p:cNvPr>
          <p:cNvSpPr/>
          <p:nvPr/>
        </p:nvSpPr>
        <p:spPr>
          <a:xfrm>
            <a:off x="0" y="0"/>
            <a:ext cx="12192000" cy="6858000"/>
          </a:xfrm>
          <a:prstGeom prst="roundRect">
            <a:avLst>
              <a:gd name="adj" fmla="val 0"/>
            </a:avLst>
          </a:prstGeom>
          <a:solidFill>
            <a:srgbClr val="F7FAFC">
              <a:alpha val="92000"/>
            </a:srgbClr>
          </a:solidFill>
          <a:ln w="25400" cap="flat" cmpd="sng">
            <a:noFill/>
            <a:prstDash val="solid"/>
            <a:round/>
          </a:ln>
        </p:spPr>
        <p:txBody>
          <a:bodyPr vert="horz" wrap="square" lIns="0" tIns="0" rIns="0" bIns="0" rtlCol="0" anchor="ctr" anchorCtr="0"/>
          <a:lstStyle/>
          <a:p>
            <a:pPr algn="ctr">
              <a:defRPr/>
            </a:pPr>
            <a:endParaRPr lang="zh-CN" altLang="en-US" dirty="0"/>
          </a:p>
        </p:txBody>
      </p:sp>
      <p:sp>
        <p:nvSpPr>
          <p:cNvPr id="7" name="AutoShape 7">
            <a:extLst>
              <a:ext uri="{FF2B5EF4-FFF2-40B4-BE49-F238E27FC236}">
                <a16:creationId xmlns:a16="http://schemas.microsoft.com/office/drawing/2014/main" id="{B5AF452A-79A4-06B5-6AF1-FF63F021CB12}"/>
              </a:ext>
            </a:extLst>
          </p:cNvPr>
          <p:cNvSpPr/>
          <p:nvPr/>
        </p:nvSpPr>
        <p:spPr>
          <a:xfrm>
            <a:off x="460829" y="2135414"/>
            <a:ext cx="3302000" cy="2540001"/>
          </a:xfrm>
          <a:prstGeom prst="roundRect">
            <a:avLst>
              <a:gd name="adj" fmla="val 4615"/>
            </a:avLst>
          </a:prstGeom>
          <a:solidFill>
            <a:srgbClr val="FFFFFF">
              <a:alpha val="100000"/>
            </a:srgbClr>
          </a:solidFill>
          <a:ln w="25400" cap="flat" cmpd="sng">
            <a:solidFill>
              <a:srgbClr val="2DD4BF">
                <a:alpha val="100000"/>
              </a:srgbClr>
            </a:solidFill>
            <a:prstDash val="solid"/>
            <a:round/>
          </a:ln>
          <a:effectLst>
            <a:outerShdw blurRad="190500" dist="76200" dir="5400000" algn="tl" rotWithShape="0">
              <a:srgbClr val="000000">
                <a:alpha val="8000"/>
              </a:srgbClr>
            </a:outerShdw>
          </a:effectLst>
        </p:spPr>
        <p:txBody>
          <a:bodyPr vert="horz" wrap="square" lIns="0" tIns="0" rIns="0" bIns="0" rtlCol="0" anchor="ctr" anchorCtr="0"/>
          <a:lstStyle/>
          <a:p>
            <a:pPr algn="ctr">
              <a:defRPr/>
            </a:pPr>
            <a:endParaRPr/>
          </a:p>
        </p:txBody>
      </p:sp>
      <p:sp>
        <p:nvSpPr>
          <p:cNvPr id="9" name="AutoShape 9">
            <a:extLst>
              <a:ext uri="{FF2B5EF4-FFF2-40B4-BE49-F238E27FC236}">
                <a16:creationId xmlns:a16="http://schemas.microsoft.com/office/drawing/2014/main" id="{478AE0B7-01C8-DC6B-2228-D8CEF9E80A6D}"/>
              </a:ext>
            </a:extLst>
          </p:cNvPr>
          <p:cNvSpPr/>
          <p:nvPr/>
        </p:nvSpPr>
        <p:spPr>
          <a:xfrm>
            <a:off x="714829" y="2135415"/>
            <a:ext cx="2794000" cy="254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dirty="0" err="1">
                <a:solidFill>
                  <a:srgbClr val="111827"/>
                </a:solidFill>
                <a:latin typeface="Noto Sans SC"/>
                <a:ea typeface="Noto Sans SC"/>
                <a:cs typeface="Noto Sans SC"/>
                <a:sym typeface="Noto Sans SC"/>
              </a:rPr>
              <a:t>展示顺序</a:t>
            </a:r>
            <a:endParaRPr lang="en-US" sz="1100" dirty="0"/>
          </a:p>
          <a:p>
            <a:pPr indent="0" algn="l">
              <a:lnSpc>
                <a:spcPct val="125000"/>
              </a:lnSpc>
            </a:pP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1. </a:t>
            </a:r>
            <a:r>
              <a:rPr lang="en-US" sz="1200" b="0" i="0" u="none" strike="noStrike" dirty="0" err="1">
                <a:solidFill>
                  <a:srgbClr val="4B5563"/>
                </a:solidFill>
                <a:latin typeface="Noto Sans SC"/>
                <a:ea typeface="Noto Sans SC"/>
                <a:cs typeface="Noto Sans SC"/>
                <a:sym typeface="Noto Sans SC"/>
              </a:rPr>
              <a:t>原始PDF</a:t>
            </a:r>
            <a:r>
              <a:rPr lang="en-US" sz="1200" b="0" i="0" u="none" strike="noStrike" dirty="0">
                <a:solidFill>
                  <a:srgbClr val="4B5563"/>
                </a:solidFill>
                <a:latin typeface="Noto Sans SC"/>
                <a:ea typeface="Noto Sans SC"/>
                <a:cs typeface="Noto Sans SC"/>
                <a:sym typeface="Noto Sans SC"/>
              </a:rPr>
              <a:t> → </a:t>
            </a:r>
            <a:r>
              <a:rPr lang="en-US" sz="1200" b="0" i="0" u="none" strike="noStrike" dirty="0" err="1">
                <a:solidFill>
                  <a:srgbClr val="4B5563"/>
                </a:solidFill>
                <a:latin typeface="Noto Sans SC"/>
                <a:ea typeface="Noto Sans SC"/>
                <a:cs typeface="Noto Sans SC"/>
                <a:sym typeface="Noto Sans SC"/>
              </a:rPr>
              <a:t>Metadata记录</a:t>
            </a: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dirty="0">
                <a:solidFill>
                  <a:srgbClr val="4B5563"/>
                </a:solidFill>
                <a:latin typeface="Noto Sans SC"/>
                <a:ea typeface="Noto Sans SC"/>
                <a:sym typeface="Noto Sans SC"/>
              </a:rPr>
              <a:t>2. </a:t>
            </a:r>
            <a:r>
              <a:rPr lang="en-US" sz="1200" dirty="0" err="1">
                <a:solidFill>
                  <a:srgbClr val="4B5563"/>
                </a:solidFill>
                <a:latin typeface="Noto Sans SC"/>
                <a:ea typeface="Noto Sans SC"/>
                <a:sym typeface="Noto Sans SC"/>
              </a:rPr>
              <a:t>解析文本</a:t>
            </a:r>
            <a:r>
              <a:rPr lang="en-US" sz="1200" dirty="0">
                <a:solidFill>
                  <a:srgbClr val="4B5563"/>
                </a:solidFill>
                <a:latin typeface="Noto Sans SC"/>
                <a:ea typeface="Noto Sans SC"/>
                <a:sym typeface="Noto Sans SC"/>
              </a:rPr>
              <a:t> → </a:t>
            </a:r>
            <a:r>
              <a:rPr lang="en-US" sz="1200" dirty="0" err="1">
                <a:solidFill>
                  <a:srgbClr val="4B5563"/>
                </a:solidFill>
                <a:latin typeface="Noto Sans SC"/>
                <a:ea typeface="Noto Sans SC"/>
                <a:sym typeface="Noto Sans SC"/>
              </a:rPr>
              <a:t>Section检查</a:t>
            </a:r>
            <a:endParaRPr lang="en-US" sz="1200" dirty="0">
              <a:solidFill>
                <a:srgbClr val="4B5563"/>
              </a:solidFill>
              <a:latin typeface="Noto Sans SC"/>
              <a:ea typeface="Noto Sans SC"/>
              <a:sym typeface="Noto Sans SC"/>
            </a:endParaRPr>
          </a:p>
          <a:p>
            <a:pPr indent="0" algn="l">
              <a:lnSpc>
                <a:spcPct val="125000"/>
              </a:lnSpc>
            </a:pPr>
            <a:r>
              <a:rPr lang="en-US" sz="1200" b="0" i="0" u="none" strike="noStrike" dirty="0">
                <a:solidFill>
                  <a:srgbClr val="FF0000"/>
                </a:solidFill>
                <a:latin typeface="Noto Sans SC"/>
                <a:ea typeface="Noto Sans SC"/>
                <a:cs typeface="Noto Sans SC"/>
                <a:sym typeface="Noto Sans SC"/>
              </a:rPr>
              <a:t>3. </a:t>
            </a:r>
            <a:r>
              <a:rPr lang="en-US" sz="1200" b="0" i="0" u="none" strike="noStrike" dirty="0" err="1">
                <a:solidFill>
                  <a:srgbClr val="FF0000"/>
                </a:solidFill>
                <a:latin typeface="Noto Sans SC"/>
                <a:ea typeface="Noto Sans SC"/>
                <a:cs typeface="Noto Sans SC"/>
                <a:sym typeface="Noto Sans SC"/>
              </a:rPr>
              <a:t>抽取JSON</a:t>
            </a:r>
            <a:r>
              <a:rPr lang="en-US" sz="1200" b="0" i="0" u="none" strike="noStrike" dirty="0">
                <a:solidFill>
                  <a:srgbClr val="FF0000"/>
                </a:solidFill>
                <a:latin typeface="Noto Sans SC"/>
                <a:ea typeface="Noto Sans SC"/>
                <a:cs typeface="Noto Sans SC"/>
                <a:sym typeface="Noto Sans SC"/>
              </a:rPr>
              <a:t> → </a:t>
            </a:r>
            <a:r>
              <a:rPr lang="en-US" sz="1200" b="0" i="0" u="none" strike="noStrike" dirty="0" err="1">
                <a:solidFill>
                  <a:srgbClr val="FF0000"/>
                </a:solidFill>
                <a:latin typeface="Noto Sans SC"/>
                <a:ea typeface="Noto Sans SC"/>
                <a:cs typeface="Noto Sans SC"/>
                <a:sym typeface="Noto Sans SC"/>
              </a:rPr>
              <a:t>Pydantic校验</a:t>
            </a:r>
            <a:endParaRPr lang="en-US" sz="1200" b="0" i="0" u="none" strike="noStrike" dirty="0">
              <a:solidFill>
                <a:srgbClr val="FF0000"/>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4. </a:t>
            </a:r>
            <a:r>
              <a:rPr lang="en-US" sz="1200" b="0" i="0" u="none" strike="noStrike" dirty="0" err="1">
                <a:solidFill>
                  <a:srgbClr val="4B5563"/>
                </a:solidFill>
                <a:latin typeface="Noto Sans SC"/>
                <a:ea typeface="Noto Sans SC"/>
                <a:cs typeface="Noto Sans SC"/>
                <a:sym typeface="Noto Sans SC"/>
              </a:rPr>
              <a:t>最终结构化结果</a:t>
            </a:r>
            <a:endParaRPr lang="en-US" sz="1200" b="0" i="0" u="none" strike="noStrike" dirty="0">
              <a:solidFill>
                <a:srgbClr val="4B5563"/>
              </a:solidFill>
              <a:latin typeface="Noto Sans SC"/>
              <a:ea typeface="Noto Sans SC"/>
              <a:cs typeface="Noto Sans SC"/>
              <a:sym typeface="Noto Sans SC"/>
            </a:endParaRPr>
          </a:p>
        </p:txBody>
      </p:sp>
      <p:sp>
        <p:nvSpPr>
          <p:cNvPr id="12" name="AutoShape 2">
            <a:extLst>
              <a:ext uri="{FF2B5EF4-FFF2-40B4-BE49-F238E27FC236}">
                <a16:creationId xmlns:a16="http://schemas.microsoft.com/office/drawing/2014/main" id="{AD8AAC03-855B-9950-E60F-4BBD14603992}"/>
              </a:ext>
            </a:extLst>
          </p:cNvPr>
          <p:cNvSpPr/>
          <p:nvPr/>
        </p:nvSpPr>
        <p:spPr>
          <a:xfrm>
            <a:off x="762000" y="3937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111827"/>
                </a:solidFill>
                <a:latin typeface="Noto Sans SC"/>
                <a:ea typeface="Noto Sans SC"/>
                <a:cs typeface="Noto Sans SC"/>
                <a:sym typeface="Noto Sans SC"/>
              </a:rPr>
              <a:t>07 Demo </a:t>
            </a:r>
            <a:r>
              <a:rPr lang="zh-CN" altLang="en-US" sz="3600" b="1" i="0" u="none" strike="noStrike" dirty="0">
                <a:solidFill>
                  <a:srgbClr val="111827"/>
                </a:solidFill>
                <a:latin typeface="Noto Sans SC"/>
                <a:ea typeface="Noto Sans SC"/>
                <a:cs typeface="Noto Sans SC"/>
                <a:sym typeface="Noto Sans SC"/>
              </a:rPr>
              <a:t>演示环节</a:t>
            </a:r>
          </a:p>
        </p:txBody>
      </p:sp>
      <p:sp>
        <p:nvSpPr>
          <p:cNvPr id="4" name="AutoShape 9">
            <a:extLst>
              <a:ext uri="{FF2B5EF4-FFF2-40B4-BE49-F238E27FC236}">
                <a16:creationId xmlns:a16="http://schemas.microsoft.com/office/drawing/2014/main" id="{A4B6B85D-CABF-CA31-549A-C4AB24C18D58}"/>
              </a:ext>
            </a:extLst>
          </p:cNvPr>
          <p:cNvSpPr/>
          <p:nvPr/>
        </p:nvSpPr>
        <p:spPr>
          <a:xfrm>
            <a:off x="4016829" y="3172734"/>
            <a:ext cx="7953828" cy="677181"/>
          </a:xfrm>
          <a:prstGeom prst="rect">
            <a:avLst/>
          </a:prstGeom>
          <a:noFill/>
          <a:ln w="12700" cap="flat" cmpd="sng">
            <a:noFill/>
            <a:prstDash val="solid"/>
            <a:round/>
          </a:ln>
        </p:spPr>
        <p:txBody>
          <a:bodyPr vert="horz" wrap="square" lIns="0" tIns="0" rIns="0" bIns="0" rtlCol="0" anchor="ctr" anchorCtr="0"/>
          <a:lstStyle/>
          <a:p>
            <a:pPr>
              <a:lnSpc>
                <a:spcPts val="1650"/>
              </a:lnSpc>
              <a:buNone/>
            </a:pPr>
            <a:r>
              <a:rPr lang="zh-CN" altLang="zh-CN" sz="1100" b="0" dirty="0">
                <a:solidFill>
                  <a:srgbClr val="31353A"/>
                </a:solidFill>
                <a:effectLst/>
                <a:latin typeface="JetBrains Mono"/>
              </a:rPr>
              <a:t>{</a:t>
            </a:r>
            <a:r>
              <a:rPr lang="zh-CN" altLang="zh-CN" sz="1100" b="0" dirty="0">
                <a:solidFill>
                  <a:srgbClr val="0451A5"/>
                </a:solidFill>
                <a:effectLst/>
                <a:latin typeface="JetBrains Mono"/>
              </a:rPr>
              <a:t>"doc_id"</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"002200_20250412_5b117085"</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"company_name"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"云南交投生态科技股份有限公司"</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"stock_code"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"002200"</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"announcement_date"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"2025-04-12"</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"project_name"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"G78汕昆高速／G80广昆高速石林至昆明段（改扩建）工程项目投资人招标"</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"counterparty"</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"云南省交通运输厅委托云南省交通发展投资有限责任公司作为本次招标活动的招标执行机构"</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"project_stage"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"收到中标通知书"</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"bid_amount_text"</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"通行费下浮率为0%，补偿金首次支付比例为80%。"</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"risk_notice"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目前公司及联合体尚未与招标人签署正式协议。后续在组建项目公司及签订相关协议或合同过程中，若涉及关联交易的，公司还将按照相关监管要求履行关联交易审议程序，能否最终参与项目公司组建，并参与该项目涉及的绿化及环境保护工程施工，以及具体实施份额暂不确定。公司将根据项目进展情况及时履行信息披露义务。敬请广大投资者注意投资风险。"</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"evidence"</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"field_name"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"project_name"</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"evidence_text"</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"1.项目名称：G78汕昆高速／G80广昆高速石林至昆明段（改扩建）工程项目投资人招标。"</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"page_no"</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2</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"confidence"</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0.98</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"field_name"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"counterparty"</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"evidence_text"</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"4.项目招标人：云南省交通运输厅委托云南省交通发展投资有限责任公司作为本次招标活动的招标执行机构。"</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"page_no"</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2</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"confidence"</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0.96</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"field_name"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"project_stage"</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"evidence_text"</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"近日公司收到该项目的《中标通知书》，公司参与的联合体被确定为该项目的中标人。"</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"page_no"</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1</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"confidence"</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0.99</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"field_name"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"bid_amount_text"</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"evidence_text"</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"3.中标金额：通行费下浮率为0%，补偿金首次支付比例为80%。"</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"page_no"</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2</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"confidence"</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0.97</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"field_name"</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"risk_notice"</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"evidence_text"</a:t>
            </a:r>
            <a:r>
              <a:rPr lang="zh-CN" altLang="zh-CN" sz="1100" b="0" dirty="0">
                <a:solidFill>
                  <a:srgbClr val="31353A"/>
                </a:solidFill>
                <a:effectLst/>
                <a:latin typeface="JetBrains Mono"/>
              </a:rPr>
              <a:t>:</a:t>
            </a:r>
            <a:r>
              <a:rPr lang="zh-CN" altLang="zh-CN" sz="1100" b="0" dirty="0">
                <a:solidFill>
                  <a:srgbClr val="4DA621"/>
                </a:solidFill>
                <a:effectLst/>
                <a:latin typeface="JetBrains Mono"/>
              </a:rPr>
              <a:t>"目前公司及联合体尚未与招标人签署正式协议。后续在组建项目公司及签订相关协议或合同过程中，若涉及关联交易的，公司还将按照相关监管要求履行关联交易审议程序，能否最终参与项目公司组建，并参与该项目涉及的绿化及环境保护工程施工，以及具体实施份额暂不确定。公司将根据项目进展情况及时履行信息披露义务。敬请广大投资者注意投资风险。"</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"page_no"</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3</a:t>
            </a:r>
            <a:r>
              <a:rPr lang="zh-CN" altLang="zh-CN" sz="1100" b="0" dirty="0">
                <a:solidFill>
                  <a:srgbClr val="31353A"/>
                </a:solidFill>
                <a:effectLst/>
                <a:latin typeface="JetBrains Mono"/>
              </a:rPr>
              <a:t>,</a:t>
            </a:r>
            <a:r>
              <a:rPr lang="zh-CN" altLang="zh-CN" sz="1100" b="0" dirty="0">
                <a:solidFill>
                  <a:srgbClr val="0451A5"/>
                </a:solidFill>
                <a:effectLst/>
                <a:latin typeface="JetBrains Mono"/>
              </a:rPr>
              <a:t>"confidence"</a:t>
            </a:r>
            <a:r>
              <a:rPr lang="zh-CN" altLang="zh-CN" sz="1100" b="0" dirty="0">
                <a:solidFill>
                  <a:srgbClr val="31353A"/>
                </a:solidFill>
                <a:effectLst/>
                <a:latin typeface="JetBrains Mono"/>
              </a:rPr>
              <a:t>:</a:t>
            </a:r>
            <a:r>
              <a:rPr lang="zh-CN" altLang="zh-CN" sz="1100" b="0" dirty="0">
                <a:solidFill>
                  <a:srgbClr val="E54595"/>
                </a:solidFill>
                <a:effectLst/>
                <a:latin typeface="JetBrains Mono"/>
              </a:rPr>
              <a:t>0.98</a:t>
            </a:r>
            <a:r>
              <a:rPr lang="zh-CN" altLang="zh-CN" sz="1100" b="0" dirty="0">
                <a:solidFill>
                  <a:srgbClr val="31353A"/>
                </a:solidFill>
                <a:effectLst/>
                <a:latin typeface="JetBrains Mono"/>
              </a:rPr>
              <a:t>}]}</a:t>
            </a:r>
          </a:p>
        </p:txBody>
      </p:sp>
    </p:spTree>
    <p:extLst>
      <p:ext uri="{BB962C8B-B14F-4D97-AF65-F5344CB8AC3E}">
        <p14:creationId xmlns:p14="http://schemas.microsoft.com/office/powerpoint/2010/main" val="3393626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4B7E-B5B1-D7A0-04FF-39F229B7ABE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8F9E09C-11BB-71F8-BD05-E8D326F65670}"/>
              </a:ext>
            </a:extLst>
          </p:cNvPr>
          <p:cNvSpPr/>
          <p:nvPr/>
        </p:nvSpPr>
        <p:spPr>
          <a:xfrm>
            <a:off x="0" y="0"/>
            <a:ext cx="12192000" cy="6858000"/>
          </a:xfrm>
          <a:prstGeom prst="roundRect">
            <a:avLst>
              <a:gd name="adj" fmla="val 0"/>
            </a:avLst>
          </a:prstGeom>
          <a:solidFill>
            <a:srgbClr val="F7FAFC">
              <a:alpha val="92000"/>
            </a:srgbClr>
          </a:solidFill>
          <a:ln w="25400" cap="flat" cmpd="sng">
            <a:noFill/>
            <a:prstDash val="solid"/>
            <a:round/>
          </a:ln>
        </p:spPr>
        <p:txBody>
          <a:bodyPr vert="horz" wrap="square" lIns="0" tIns="0" rIns="0" bIns="0" rtlCol="0" anchor="ctr" anchorCtr="0"/>
          <a:lstStyle/>
          <a:p>
            <a:pPr algn="ctr">
              <a:defRPr/>
            </a:pPr>
            <a:endParaRPr lang="zh-CN" altLang="en-US" dirty="0"/>
          </a:p>
        </p:txBody>
      </p:sp>
      <p:sp>
        <p:nvSpPr>
          <p:cNvPr id="7" name="AutoShape 7">
            <a:extLst>
              <a:ext uri="{FF2B5EF4-FFF2-40B4-BE49-F238E27FC236}">
                <a16:creationId xmlns:a16="http://schemas.microsoft.com/office/drawing/2014/main" id="{9972F28A-EA07-B1BD-2510-442277D50E6B}"/>
              </a:ext>
            </a:extLst>
          </p:cNvPr>
          <p:cNvSpPr/>
          <p:nvPr/>
        </p:nvSpPr>
        <p:spPr>
          <a:xfrm>
            <a:off x="460829" y="2135414"/>
            <a:ext cx="3302000" cy="2540001"/>
          </a:xfrm>
          <a:prstGeom prst="roundRect">
            <a:avLst>
              <a:gd name="adj" fmla="val 4615"/>
            </a:avLst>
          </a:prstGeom>
          <a:solidFill>
            <a:srgbClr val="FFFFFF">
              <a:alpha val="100000"/>
            </a:srgbClr>
          </a:solidFill>
          <a:ln w="25400" cap="flat" cmpd="sng">
            <a:solidFill>
              <a:srgbClr val="2DD4BF">
                <a:alpha val="100000"/>
              </a:srgbClr>
            </a:solidFill>
            <a:prstDash val="solid"/>
            <a:round/>
          </a:ln>
          <a:effectLst>
            <a:outerShdw blurRad="190500" dist="76200" dir="5400000" algn="tl" rotWithShape="0">
              <a:srgbClr val="000000">
                <a:alpha val="8000"/>
              </a:srgbClr>
            </a:outerShdw>
          </a:effectLst>
        </p:spPr>
        <p:txBody>
          <a:bodyPr vert="horz" wrap="square" lIns="0" tIns="0" rIns="0" bIns="0" rtlCol="0" anchor="ctr" anchorCtr="0"/>
          <a:lstStyle/>
          <a:p>
            <a:pPr algn="ctr">
              <a:defRPr/>
            </a:pPr>
            <a:endParaRPr/>
          </a:p>
        </p:txBody>
      </p:sp>
      <p:sp>
        <p:nvSpPr>
          <p:cNvPr id="9" name="AutoShape 9">
            <a:extLst>
              <a:ext uri="{FF2B5EF4-FFF2-40B4-BE49-F238E27FC236}">
                <a16:creationId xmlns:a16="http://schemas.microsoft.com/office/drawing/2014/main" id="{14F12306-C4E8-D192-6E40-E56E600EDCFA}"/>
              </a:ext>
            </a:extLst>
          </p:cNvPr>
          <p:cNvSpPr/>
          <p:nvPr/>
        </p:nvSpPr>
        <p:spPr>
          <a:xfrm>
            <a:off x="714829" y="2135415"/>
            <a:ext cx="2794000" cy="254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dirty="0" err="1">
                <a:solidFill>
                  <a:srgbClr val="111827"/>
                </a:solidFill>
                <a:latin typeface="Noto Sans SC"/>
                <a:ea typeface="Noto Sans SC"/>
                <a:cs typeface="Noto Sans SC"/>
                <a:sym typeface="Noto Sans SC"/>
              </a:rPr>
              <a:t>展示顺序</a:t>
            </a:r>
            <a:endParaRPr lang="en-US" sz="1100" dirty="0"/>
          </a:p>
          <a:p>
            <a:pPr indent="0" algn="l">
              <a:lnSpc>
                <a:spcPct val="125000"/>
              </a:lnSpc>
            </a:pP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b="0" i="0" u="none" strike="noStrike" dirty="0">
                <a:solidFill>
                  <a:srgbClr val="4B5563"/>
                </a:solidFill>
                <a:latin typeface="Noto Sans SC"/>
                <a:ea typeface="Noto Sans SC"/>
                <a:cs typeface="Noto Sans SC"/>
                <a:sym typeface="Noto Sans SC"/>
              </a:rPr>
              <a:t>1. </a:t>
            </a:r>
            <a:r>
              <a:rPr lang="en-US" sz="1200" b="0" i="0" u="none" strike="noStrike" dirty="0" err="1">
                <a:solidFill>
                  <a:srgbClr val="4B5563"/>
                </a:solidFill>
                <a:latin typeface="Noto Sans SC"/>
                <a:ea typeface="Noto Sans SC"/>
                <a:cs typeface="Noto Sans SC"/>
                <a:sym typeface="Noto Sans SC"/>
              </a:rPr>
              <a:t>原始PDF</a:t>
            </a:r>
            <a:r>
              <a:rPr lang="en-US" sz="1200" b="0" i="0" u="none" strike="noStrike" dirty="0">
                <a:solidFill>
                  <a:srgbClr val="4B5563"/>
                </a:solidFill>
                <a:latin typeface="Noto Sans SC"/>
                <a:ea typeface="Noto Sans SC"/>
                <a:cs typeface="Noto Sans SC"/>
                <a:sym typeface="Noto Sans SC"/>
              </a:rPr>
              <a:t> → </a:t>
            </a:r>
            <a:r>
              <a:rPr lang="en-US" sz="1200" b="0" i="0" u="none" strike="noStrike" dirty="0" err="1">
                <a:solidFill>
                  <a:srgbClr val="4B5563"/>
                </a:solidFill>
                <a:latin typeface="Noto Sans SC"/>
                <a:ea typeface="Noto Sans SC"/>
                <a:cs typeface="Noto Sans SC"/>
                <a:sym typeface="Noto Sans SC"/>
              </a:rPr>
              <a:t>Metadata记录</a:t>
            </a:r>
            <a:endParaRPr lang="en-US" sz="1200" b="0" i="0" u="none" strike="noStrike" dirty="0">
              <a:solidFill>
                <a:srgbClr val="4B5563"/>
              </a:solidFill>
              <a:latin typeface="Noto Sans SC"/>
              <a:ea typeface="Noto Sans SC"/>
              <a:cs typeface="Noto Sans SC"/>
              <a:sym typeface="Noto Sans SC"/>
            </a:endParaRPr>
          </a:p>
          <a:p>
            <a:pPr indent="0" algn="l">
              <a:lnSpc>
                <a:spcPct val="125000"/>
              </a:lnSpc>
            </a:pPr>
            <a:r>
              <a:rPr lang="en-US" sz="1200" dirty="0">
                <a:solidFill>
                  <a:srgbClr val="4B5563"/>
                </a:solidFill>
                <a:latin typeface="Noto Sans SC"/>
                <a:ea typeface="Noto Sans SC"/>
                <a:sym typeface="Noto Sans SC"/>
              </a:rPr>
              <a:t>2. </a:t>
            </a:r>
            <a:r>
              <a:rPr lang="en-US" sz="1200" dirty="0" err="1">
                <a:solidFill>
                  <a:srgbClr val="4B5563"/>
                </a:solidFill>
                <a:latin typeface="Noto Sans SC"/>
                <a:ea typeface="Noto Sans SC"/>
                <a:sym typeface="Noto Sans SC"/>
              </a:rPr>
              <a:t>解析文本</a:t>
            </a:r>
            <a:r>
              <a:rPr lang="en-US" sz="1200" dirty="0">
                <a:solidFill>
                  <a:srgbClr val="4B5563"/>
                </a:solidFill>
                <a:latin typeface="Noto Sans SC"/>
                <a:ea typeface="Noto Sans SC"/>
                <a:sym typeface="Noto Sans SC"/>
              </a:rPr>
              <a:t> → </a:t>
            </a:r>
            <a:r>
              <a:rPr lang="en-US" sz="1200" dirty="0" err="1">
                <a:solidFill>
                  <a:srgbClr val="4B5563"/>
                </a:solidFill>
                <a:latin typeface="Noto Sans SC"/>
                <a:ea typeface="Noto Sans SC"/>
                <a:sym typeface="Noto Sans SC"/>
              </a:rPr>
              <a:t>Section检查</a:t>
            </a:r>
            <a:endParaRPr lang="en-US" sz="1200" dirty="0">
              <a:solidFill>
                <a:srgbClr val="4B5563"/>
              </a:solidFill>
              <a:latin typeface="Noto Sans SC"/>
              <a:ea typeface="Noto Sans SC"/>
              <a:sym typeface="Noto Sans SC"/>
            </a:endParaRPr>
          </a:p>
          <a:p>
            <a:pPr>
              <a:lnSpc>
                <a:spcPct val="125000"/>
              </a:lnSpc>
            </a:pPr>
            <a:r>
              <a:rPr lang="en-US" sz="1200" dirty="0">
                <a:solidFill>
                  <a:srgbClr val="4B5563"/>
                </a:solidFill>
                <a:latin typeface="Noto Sans SC"/>
                <a:ea typeface="Noto Sans SC"/>
                <a:sym typeface="Noto Sans SC"/>
              </a:rPr>
              <a:t>3. </a:t>
            </a:r>
            <a:r>
              <a:rPr lang="en-US" sz="1200" dirty="0" err="1">
                <a:solidFill>
                  <a:srgbClr val="4B5563"/>
                </a:solidFill>
                <a:latin typeface="Noto Sans SC"/>
                <a:ea typeface="Noto Sans SC"/>
                <a:sym typeface="Noto Sans SC"/>
              </a:rPr>
              <a:t>抽取JSON</a:t>
            </a:r>
            <a:r>
              <a:rPr lang="en-US" sz="1200" dirty="0">
                <a:solidFill>
                  <a:srgbClr val="4B5563"/>
                </a:solidFill>
                <a:latin typeface="Noto Sans SC"/>
                <a:ea typeface="Noto Sans SC"/>
                <a:sym typeface="Noto Sans SC"/>
              </a:rPr>
              <a:t> → </a:t>
            </a:r>
            <a:r>
              <a:rPr lang="en-US" sz="1200" dirty="0" err="1">
                <a:solidFill>
                  <a:srgbClr val="4B5563"/>
                </a:solidFill>
                <a:latin typeface="Noto Sans SC"/>
                <a:ea typeface="Noto Sans SC"/>
                <a:sym typeface="Noto Sans SC"/>
              </a:rPr>
              <a:t>Pydantic校验</a:t>
            </a:r>
            <a:endParaRPr lang="en-US" sz="1200" dirty="0">
              <a:solidFill>
                <a:srgbClr val="4B5563"/>
              </a:solidFill>
              <a:latin typeface="Noto Sans SC"/>
              <a:ea typeface="Noto Sans SC"/>
              <a:sym typeface="Noto Sans SC"/>
            </a:endParaRPr>
          </a:p>
          <a:p>
            <a:pPr indent="0" algn="l">
              <a:lnSpc>
                <a:spcPct val="125000"/>
              </a:lnSpc>
            </a:pPr>
            <a:r>
              <a:rPr lang="en-US" sz="1200" b="0" i="0" u="none" strike="noStrike" dirty="0">
                <a:solidFill>
                  <a:srgbClr val="FF0000"/>
                </a:solidFill>
                <a:latin typeface="Noto Sans SC"/>
                <a:ea typeface="Noto Sans SC"/>
                <a:cs typeface="Noto Sans SC"/>
                <a:sym typeface="Noto Sans SC"/>
              </a:rPr>
              <a:t>4. </a:t>
            </a:r>
            <a:r>
              <a:rPr lang="en-US" sz="1200" b="0" i="0" u="none" strike="noStrike" dirty="0" err="1">
                <a:solidFill>
                  <a:srgbClr val="FF0000"/>
                </a:solidFill>
                <a:latin typeface="Noto Sans SC"/>
                <a:ea typeface="Noto Sans SC"/>
                <a:cs typeface="Noto Sans SC"/>
                <a:sym typeface="Noto Sans SC"/>
              </a:rPr>
              <a:t>最终结构化结果</a:t>
            </a:r>
            <a:endParaRPr lang="en-US" sz="1200" b="0" i="0" u="none" strike="noStrike" dirty="0">
              <a:solidFill>
                <a:srgbClr val="FF0000"/>
              </a:solidFill>
              <a:latin typeface="Noto Sans SC"/>
              <a:ea typeface="Noto Sans SC"/>
              <a:cs typeface="Noto Sans SC"/>
              <a:sym typeface="Noto Sans SC"/>
            </a:endParaRPr>
          </a:p>
        </p:txBody>
      </p:sp>
      <p:sp>
        <p:nvSpPr>
          <p:cNvPr id="12" name="AutoShape 2">
            <a:extLst>
              <a:ext uri="{FF2B5EF4-FFF2-40B4-BE49-F238E27FC236}">
                <a16:creationId xmlns:a16="http://schemas.microsoft.com/office/drawing/2014/main" id="{75732D30-A112-8A11-536C-D99DFC838CBE}"/>
              </a:ext>
            </a:extLst>
          </p:cNvPr>
          <p:cNvSpPr/>
          <p:nvPr/>
        </p:nvSpPr>
        <p:spPr>
          <a:xfrm>
            <a:off x="762000" y="3937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111827"/>
                </a:solidFill>
                <a:latin typeface="Noto Sans SC"/>
                <a:ea typeface="Noto Sans SC"/>
                <a:cs typeface="Noto Sans SC"/>
                <a:sym typeface="Noto Sans SC"/>
              </a:rPr>
              <a:t>07 Demo </a:t>
            </a:r>
            <a:r>
              <a:rPr lang="zh-CN" altLang="en-US" sz="3600" b="1" i="0" u="none" strike="noStrike" dirty="0">
                <a:solidFill>
                  <a:srgbClr val="111827"/>
                </a:solidFill>
                <a:latin typeface="Noto Sans SC"/>
                <a:ea typeface="Noto Sans SC"/>
                <a:cs typeface="Noto Sans SC"/>
                <a:sym typeface="Noto Sans SC"/>
              </a:rPr>
              <a:t>演示环节</a:t>
            </a:r>
          </a:p>
        </p:txBody>
      </p:sp>
      <p:pic>
        <p:nvPicPr>
          <p:cNvPr id="5" name="图片 4">
            <a:extLst>
              <a:ext uri="{FF2B5EF4-FFF2-40B4-BE49-F238E27FC236}">
                <a16:creationId xmlns:a16="http://schemas.microsoft.com/office/drawing/2014/main" id="{5B426DE4-14EA-D75F-1549-B61C4BB1B3A9}"/>
              </a:ext>
            </a:extLst>
          </p:cNvPr>
          <p:cNvPicPr>
            <a:picLocks noChangeAspect="1"/>
          </p:cNvPicPr>
          <p:nvPr/>
        </p:nvPicPr>
        <p:blipFill>
          <a:blip r:embed="rId3"/>
          <a:srcRect l="-3129" t="-1876" r="11355" b="1876"/>
          <a:stretch>
            <a:fillRect/>
          </a:stretch>
        </p:blipFill>
        <p:spPr>
          <a:xfrm>
            <a:off x="3947886" y="1865084"/>
            <a:ext cx="3831771" cy="3868059"/>
          </a:xfrm>
          <a:prstGeom prst="rect">
            <a:avLst/>
          </a:prstGeom>
        </p:spPr>
      </p:pic>
      <p:pic>
        <p:nvPicPr>
          <p:cNvPr id="8" name="图片 7">
            <a:extLst>
              <a:ext uri="{FF2B5EF4-FFF2-40B4-BE49-F238E27FC236}">
                <a16:creationId xmlns:a16="http://schemas.microsoft.com/office/drawing/2014/main" id="{04602FED-22A8-A056-D3E4-59A2BC3EC96A}"/>
              </a:ext>
            </a:extLst>
          </p:cNvPr>
          <p:cNvPicPr>
            <a:picLocks noChangeAspect="1"/>
          </p:cNvPicPr>
          <p:nvPr/>
        </p:nvPicPr>
        <p:blipFill>
          <a:blip r:embed="rId4"/>
          <a:srcRect r="18092" b="-1331"/>
          <a:stretch>
            <a:fillRect/>
          </a:stretch>
        </p:blipFill>
        <p:spPr>
          <a:xfrm>
            <a:off x="7964714" y="1923142"/>
            <a:ext cx="3831771" cy="3868059"/>
          </a:xfrm>
          <a:prstGeom prst="rect">
            <a:avLst/>
          </a:prstGeom>
        </p:spPr>
      </p:pic>
    </p:spTree>
    <p:extLst>
      <p:ext uri="{BB962C8B-B14F-4D97-AF65-F5344CB8AC3E}">
        <p14:creationId xmlns:p14="http://schemas.microsoft.com/office/powerpoint/2010/main" val="1049790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AFC">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1073150" y="4194019"/>
            <a:ext cx="4826000" cy="1079500"/>
          </a:xfrm>
          <a:prstGeom prst="roundRect">
            <a:avLst>
              <a:gd name="adj" fmla="val 0"/>
            </a:avLst>
          </a:prstGeom>
          <a:solidFill>
            <a:srgbClr val="FFFFFF">
              <a:alpha val="100000"/>
            </a:srgbClr>
          </a:solidFill>
          <a:ln w="12700" cap="flat" cmpd="sng">
            <a:solidFill>
              <a:srgbClr val="E2E8F0">
                <a:alpha val="100000"/>
              </a:srgbClr>
            </a:solidFill>
            <a:prstDash val="solid"/>
            <a:round/>
          </a:ln>
          <a:effectLst>
            <a:outerShdw blurRad="127000" dist="50800" dir="5400000" algn="tl" rotWithShape="0">
              <a:srgbClr val="94A3B8">
                <a:alpha val="20000"/>
              </a:srgbClr>
            </a:outerShdw>
          </a:effectLst>
        </p:spPr>
        <p:txBody>
          <a:bodyPr vert="horz" wrap="square" lIns="203200" tIns="152400" rIns="203200" bIns="152400" rtlCol="0" anchor="ctr" anchorCtr="0"/>
          <a:lstStyle/>
          <a:p>
            <a:pPr indent="0" algn="ctr">
              <a:lnSpc>
                <a:spcPct val="116666"/>
              </a:lnSpc>
              <a:defRPr/>
            </a:pPr>
            <a:r>
              <a:rPr lang="en-US" sz="1600" b="1" i="0" u="none" strike="noStrike" dirty="0" err="1">
                <a:solidFill>
                  <a:srgbClr val="0F766E"/>
                </a:solidFill>
                <a:latin typeface="Noto Sans SC"/>
                <a:ea typeface="Noto Sans SC"/>
                <a:cs typeface="Noto Sans SC"/>
                <a:sym typeface="Noto Sans SC"/>
              </a:rPr>
              <a:t>数据质量层面</a:t>
            </a:r>
            <a:endParaRPr lang="en-US" sz="1100" dirty="0"/>
          </a:p>
          <a:p>
            <a:pPr indent="0" algn="ctr">
              <a:lnSpc>
                <a:spcPct val="116666"/>
              </a:lnSpc>
            </a:pPr>
            <a:r>
              <a:rPr lang="en-US" sz="1300" b="0" i="0" u="none" strike="noStrike" dirty="0">
                <a:solidFill>
                  <a:srgbClr val="334155"/>
                </a:solidFill>
                <a:latin typeface="Noto Sans SC"/>
                <a:ea typeface="Noto Sans SC"/>
                <a:cs typeface="Noto Sans SC"/>
                <a:sym typeface="Noto Sans SC"/>
              </a:rPr>
              <a:t>80条metadata和80份PDF，本地缺失数为0，重复数为0。</a:t>
            </a:r>
          </a:p>
        </p:txBody>
      </p:sp>
      <p:sp>
        <p:nvSpPr>
          <p:cNvPr id="6" name="AutoShape 6"/>
          <p:cNvSpPr/>
          <p:nvPr/>
        </p:nvSpPr>
        <p:spPr>
          <a:xfrm>
            <a:off x="1073150" y="5524500"/>
            <a:ext cx="4826000" cy="1079500"/>
          </a:xfrm>
          <a:prstGeom prst="roundRect">
            <a:avLst>
              <a:gd name="adj" fmla="val 0"/>
            </a:avLst>
          </a:prstGeom>
          <a:solidFill>
            <a:srgbClr val="FFFFFF">
              <a:alpha val="100000"/>
            </a:srgbClr>
          </a:solidFill>
          <a:ln w="12700" cap="flat" cmpd="sng">
            <a:solidFill>
              <a:srgbClr val="E2E8F0">
                <a:alpha val="100000"/>
              </a:srgbClr>
            </a:solidFill>
            <a:prstDash val="solid"/>
            <a:round/>
          </a:ln>
          <a:effectLst>
            <a:outerShdw blurRad="127000" dist="50800" dir="5400000" algn="tl" rotWithShape="0">
              <a:srgbClr val="94A3B8">
                <a:alpha val="20000"/>
              </a:srgbClr>
            </a:outerShdw>
          </a:effectLst>
        </p:spPr>
        <p:txBody>
          <a:bodyPr vert="horz" wrap="square" lIns="203200" tIns="152400" rIns="203200" bIns="152400" rtlCol="0" anchor="ctr" anchorCtr="0"/>
          <a:lstStyle/>
          <a:p>
            <a:pPr indent="0" algn="ctr">
              <a:lnSpc>
                <a:spcPct val="116666"/>
              </a:lnSpc>
              <a:defRPr/>
            </a:pPr>
            <a:r>
              <a:rPr lang="en-US" sz="1600" b="1" i="0" u="none" strike="noStrike" dirty="0" err="1">
                <a:solidFill>
                  <a:srgbClr val="0F766E"/>
                </a:solidFill>
                <a:latin typeface="Noto Sans SC"/>
                <a:ea typeface="Noto Sans SC"/>
                <a:cs typeface="Noto Sans SC"/>
                <a:sym typeface="Noto Sans SC"/>
              </a:rPr>
              <a:t>字段效果层面</a:t>
            </a:r>
            <a:endParaRPr lang="en-US" sz="1100" dirty="0"/>
          </a:p>
          <a:p>
            <a:pPr indent="0" algn="ctr">
              <a:lnSpc>
                <a:spcPct val="116666"/>
              </a:lnSpc>
            </a:pPr>
            <a:r>
              <a:rPr lang="en-US" sz="1300" b="0" i="0" u="none" strike="noStrike" dirty="0" err="1">
                <a:solidFill>
                  <a:srgbClr val="334155"/>
                </a:solidFill>
                <a:latin typeface="Noto Sans SC"/>
                <a:ea typeface="Noto Sans SC"/>
                <a:cs typeface="Noto Sans SC"/>
                <a:sym typeface="Noto Sans SC"/>
              </a:rPr>
              <a:t>关键字段都能回到原文evidence，结果可审计</a:t>
            </a:r>
            <a:r>
              <a:rPr lang="en-US" sz="1300" b="0" i="0" u="none" strike="noStrike" dirty="0">
                <a:solidFill>
                  <a:srgbClr val="334155"/>
                </a:solidFill>
                <a:latin typeface="Noto Sans SC"/>
                <a:ea typeface="Noto Sans SC"/>
                <a:cs typeface="Noto Sans SC"/>
                <a:sym typeface="Noto Sans SC"/>
              </a:rPr>
              <a:t>。</a:t>
            </a:r>
          </a:p>
        </p:txBody>
      </p:sp>
      <p:sp>
        <p:nvSpPr>
          <p:cNvPr id="7" name="AutoShape 7"/>
          <p:cNvSpPr/>
          <p:nvPr/>
        </p:nvSpPr>
        <p:spPr>
          <a:xfrm>
            <a:off x="6604000" y="4194019"/>
            <a:ext cx="4826000" cy="1079500"/>
          </a:xfrm>
          <a:prstGeom prst="roundRect">
            <a:avLst>
              <a:gd name="adj" fmla="val 0"/>
            </a:avLst>
          </a:prstGeom>
          <a:solidFill>
            <a:srgbClr val="FFFFFF">
              <a:alpha val="100000"/>
            </a:srgbClr>
          </a:solidFill>
          <a:ln w="12700" cap="flat" cmpd="sng">
            <a:solidFill>
              <a:srgbClr val="E2E8F0">
                <a:alpha val="100000"/>
              </a:srgbClr>
            </a:solidFill>
            <a:prstDash val="solid"/>
            <a:round/>
          </a:ln>
          <a:effectLst>
            <a:outerShdw blurRad="127000" dist="50800" dir="5400000" algn="tl" rotWithShape="0">
              <a:srgbClr val="94A3B8">
                <a:alpha val="20000"/>
              </a:srgbClr>
            </a:outerShdw>
          </a:effectLst>
        </p:spPr>
        <p:txBody>
          <a:bodyPr vert="horz" wrap="square" lIns="203200" tIns="152400" rIns="203200" bIns="152400" rtlCol="0" anchor="ctr" anchorCtr="0"/>
          <a:lstStyle/>
          <a:p>
            <a:pPr indent="0" algn="ctr">
              <a:lnSpc>
                <a:spcPct val="108333"/>
              </a:lnSpc>
              <a:defRPr/>
            </a:pPr>
            <a:r>
              <a:rPr lang="en-US" sz="1600" b="1" i="0" u="none" strike="noStrike" dirty="0" err="1">
                <a:solidFill>
                  <a:srgbClr val="0F766E"/>
                </a:solidFill>
                <a:latin typeface="Noto Sans SC"/>
                <a:ea typeface="Noto Sans SC"/>
                <a:cs typeface="Noto Sans SC"/>
                <a:sym typeface="Noto Sans SC"/>
              </a:rPr>
              <a:t>主要观察</a:t>
            </a:r>
            <a:endParaRPr lang="en-US" sz="1100" dirty="0"/>
          </a:p>
          <a:p>
            <a:pPr indent="0" algn="ctr">
              <a:lnSpc>
                <a:spcPct val="108333"/>
              </a:lnSpc>
            </a:pPr>
            <a:r>
              <a:rPr lang="en-US" sz="1200" b="0" i="0" u="none" strike="noStrike" dirty="0">
                <a:solidFill>
                  <a:srgbClr val="334155"/>
                </a:solidFill>
                <a:latin typeface="Noto Sans SC"/>
                <a:ea typeface="Noto Sans SC"/>
                <a:cs typeface="Noto Sans SC"/>
                <a:sym typeface="Noto Sans SC"/>
              </a:rPr>
              <a:t>1. </a:t>
            </a:r>
            <a:r>
              <a:rPr lang="en-US" sz="1200" b="0" i="0" u="none" strike="noStrike" dirty="0" err="1">
                <a:solidFill>
                  <a:srgbClr val="334155"/>
                </a:solidFill>
                <a:latin typeface="Noto Sans SC"/>
                <a:ea typeface="Noto Sans SC"/>
                <a:cs typeface="Noto Sans SC"/>
                <a:sym typeface="Noto Sans SC"/>
              </a:rPr>
              <a:t>系统可稳定输出带evidence的结构化结果</a:t>
            </a:r>
            <a:r>
              <a:rPr lang="en-US" sz="1200" b="0" i="0" u="none" strike="noStrike" dirty="0">
                <a:solidFill>
                  <a:srgbClr val="334155"/>
                </a:solidFill>
                <a:latin typeface="Noto Sans SC"/>
                <a:ea typeface="Noto Sans SC"/>
                <a:cs typeface="Noto Sans SC"/>
                <a:sym typeface="Noto Sans SC"/>
              </a:rPr>
              <a:t>。</a:t>
            </a:r>
          </a:p>
          <a:p>
            <a:pPr indent="0" algn="ctr">
              <a:lnSpc>
                <a:spcPct val="108333"/>
              </a:lnSpc>
            </a:pPr>
            <a:r>
              <a:rPr lang="en-US" sz="1200" b="0" i="0" u="none" strike="noStrike" dirty="0">
                <a:solidFill>
                  <a:srgbClr val="334155"/>
                </a:solidFill>
                <a:latin typeface="Noto Sans SC"/>
                <a:ea typeface="Noto Sans SC"/>
                <a:cs typeface="Noto Sans SC"/>
                <a:sym typeface="Noto Sans SC"/>
              </a:rPr>
              <a:t>2. </a:t>
            </a:r>
            <a:r>
              <a:rPr lang="en-US" sz="1200" b="0" i="0" u="none" strike="noStrike" dirty="0" err="1">
                <a:solidFill>
                  <a:srgbClr val="334155"/>
                </a:solidFill>
                <a:latin typeface="Noto Sans SC"/>
                <a:ea typeface="Noto Sans SC"/>
                <a:cs typeface="Noto Sans SC"/>
                <a:sym typeface="Noto Sans SC"/>
              </a:rPr>
              <a:t>金额字段适合保留原文，不宜强行标准化</a:t>
            </a:r>
            <a:r>
              <a:rPr lang="en-US" sz="1200" b="0" i="0" u="none" strike="noStrike" dirty="0">
                <a:solidFill>
                  <a:srgbClr val="334155"/>
                </a:solidFill>
                <a:latin typeface="Noto Sans SC"/>
                <a:ea typeface="Noto Sans SC"/>
                <a:cs typeface="Noto Sans SC"/>
                <a:sym typeface="Noto Sans SC"/>
              </a:rPr>
              <a:t>。</a:t>
            </a:r>
          </a:p>
        </p:txBody>
      </p:sp>
      <p:sp>
        <p:nvSpPr>
          <p:cNvPr id="8" name="AutoShape 8"/>
          <p:cNvSpPr/>
          <p:nvPr/>
        </p:nvSpPr>
        <p:spPr>
          <a:xfrm>
            <a:off x="6604000" y="5524500"/>
            <a:ext cx="4826000" cy="1079500"/>
          </a:xfrm>
          <a:prstGeom prst="roundRect">
            <a:avLst>
              <a:gd name="adj" fmla="val 0"/>
            </a:avLst>
          </a:prstGeom>
          <a:solidFill>
            <a:srgbClr val="FFFFFF">
              <a:alpha val="100000"/>
            </a:srgbClr>
          </a:solidFill>
          <a:ln w="12700" cap="flat" cmpd="sng">
            <a:solidFill>
              <a:srgbClr val="E2E8F0">
                <a:alpha val="100000"/>
              </a:srgbClr>
            </a:solidFill>
            <a:prstDash val="solid"/>
            <a:round/>
          </a:ln>
          <a:effectLst>
            <a:outerShdw blurRad="127000" dist="50800" dir="5400000" algn="tl" rotWithShape="0">
              <a:srgbClr val="94A3B8">
                <a:alpha val="20000"/>
              </a:srgbClr>
            </a:outerShdw>
          </a:effectLst>
        </p:spPr>
        <p:txBody>
          <a:bodyPr vert="horz" wrap="square" lIns="203200" tIns="127000" rIns="203200" bIns="127000" rtlCol="0" anchor="ctr" anchorCtr="0"/>
          <a:lstStyle/>
          <a:p>
            <a:pPr indent="0" algn="ctr">
              <a:lnSpc>
                <a:spcPct val="116666"/>
              </a:lnSpc>
              <a:defRPr/>
            </a:pPr>
            <a:r>
              <a:rPr lang="en-US" sz="1500" b="1" i="0" u="none" strike="noStrike" dirty="0" err="1">
                <a:solidFill>
                  <a:srgbClr val="0F766E"/>
                </a:solidFill>
                <a:latin typeface="Noto Sans SC"/>
                <a:ea typeface="Noto Sans SC"/>
                <a:cs typeface="Noto Sans SC"/>
                <a:sym typeface="Noto Sans SC"/>
              </a:rPr>
              <a:t>主要局限</a:t>
            </a:r>
            <a:endParaRPr lang="en-US" sz="1100" dirty="0"/>
          </a:p>
          <a:p>
            <a:pPr indent="0" algn="ctr">
              <a:lnSpc>
                <a:spcPct val="116666"/>
              </a:lnSpc>
            </a:pPr>
            <a:r>
              <a:rPr lang="en-US" sz="1200" b="0" i="0" u="none" strike="noStrike" dirty="0" err="1">
                <a:solidFill>
                  <a:srgbClr val="334155"/>
                </a:solidFill>
                <a:latin typeface="Noto Sans SC"/>
                <a:ea typeface="Noto Sans SC"/>
                <a:cs typeface="Noto Sans SC"/>
                <a:sym typeface="Noto Sans SC"/>
              </a:rPr>
              <a:t>需进一步验证section规则和批量稳定性</a:t>
            </a:r>
            <a:r>
              <a:rPr lang="en-US" sz="1200" b="0" i="0" u="none" strike="noStrike" dirty="0">
                <a:solidFill>
                  <a:srgbClr val="334155"/>
                </a:solidFill>
                <a:latin typeface="Noto Sans SC"/>
                <a:ea typeface="Noto Sans SC"/>
                <a:cs typeface="Noto Sans SC"/>
                <a:sym typeface="Noto Sans SC"/>
              </a:rPr>
              <a:t>。</a:t>
            </a:r>
          </a:p>
        </p:txBody>
      </p:sp>
      <p:sp>
        <p:nvSpPr>
          <p:cNvPr id="9" name="AutoShape 2">
            <a:extLst>
              <a:ext uri="{FF2B5EF4-FFF2-40B4-BE49-F238E27FC236}">
                <a16:creationId xmlns:a16="http://schemas.microsoft.com/office/drawing/2014/main" id="{1FEB34C7-1D52-3E7D-1EEE-5E8D1BC300B6}"/>
              </a:ext>
            </a:extLst>
          </p:cNvPr>
          <p:cNvSpPr/>
          <p:nvPr/>
        </p:nvSpPr>
        <p:spPr>
          <a:xfrm>
            <a:off x="762000" y="3937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3600" b="1" i="0" u="none" strike="noStrike" dirty="0">
                <a:solidFill>
                  <a:srgbClr val="111827"/>
                </a:solidFill>
                <a:latin typeface="Noto Sans SC"/>
                <a:ea typeface="Noto Sans SC"/>
                <a:cs typeface="Noto Sans SC"/>
                <a:sym typeface="Noto Sans SC"/>
              </a:rPr>
              <a:t>08 </a:t>
            </a:r>
            <a:r>
              <a:rPr lang="zh-CN" altLang="en-US" sz="3600" b="1" i="0" u="none" strike="noStrike" dirty="0">
                <a:solidFill>
                  <a:srgbClr val="111827"/>
                </a:solidFill>
                <a:latin typeface="Noto Sans SC"/>
                <a:ea typeface="Noto Sans SC"/>
                <a:cs typeface="Noto Sans SC"/>
                <a:sym typeface="Noto Sans SC"/>
              </a:rPr>
              <a:t>评估结果</a:t>
            </a:r>
          </a:p>
        </p:txBody>
      </p:sp>
      <p:pic>
        <p:nvPicPr>
          <p:cNvPr id="11" name="图片 10">
            <a:extLst>
              <a:ext uri="{FF2B5EF4-FFF2-40B4-BE49-F238E27FC236}">
                <a16:creationId xmlns:a16="http://schemas.microsoft.com/office/drawing/2014/main" id="{9F05FFE7-C653-06DC-A95C-C544289DC6D8}"/>
              </a:ext>
            </a:extLst>
          </p:cNvPr>
          <p:cNvPicPr>
            <a:picLocks noChangeAspect="1"/>
          </p:cNvPicPr>
          <p:nvPr/>
        </p:nvPicPr>
        <p:blipFill>
          <a:blip r:embed="rId4"/>
          <a:stretch>
            <a:fillRect/>
          </a:stretch>
        </p:blipFill>
        <p:spPr>
          <a:xfrm>
            <a:off x="2280148" y="1333500"/>
            <a:ext cx="7631704" cy="25460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dirty="0">
                <a:solidFill>
                  <a:srgbClr val="1F2329"/>
                </a:solidFill>
                <a:latin typeface="Noto Sans SC"/>
                <a:ea typeface="Noto Sans SC"/>
                <a:cs typeface="Noto Sans SC"/>
                <a:sym typeface="Noto Sans SC"/>
              </a:rPr>
              <a:t>09 </a:t>
            </a:r>
            <a:r>
              <a:rPr lang="en-US" sz="3600" b="1" i="0" u="none" strike="noStrike" dirty="0" err="1">
                <a:solidFill>
                  <a:srgbClr val="1F2329"/>
                </a:solidFill>
                <a:latin typeface="Noto Sans SC"/>
                <a:ea typeface="Noto Sans SC"/>
                <a:cs typeface="Noto Sans SC"/>
                <a:sym typeface="Noto Sans SC"/>
              </a:rPr>
              <a:t>优化过程</a:t>
            </a:r>
            <a:endParaRPr lang="en-US" sz="1100" dirty="0"/>
          </a:p>
        </p:txBody>
      </p:sp>
      <p:sp>
        <p:nvSpPr>
          <p:cNvPr id="5" name="AutoShape 5"/>
          <p:cNvSpPr/>
          <p:nvPr/>
        </p:nvSpPr>
        <p:spPr>
          <a:xfrm>
            <a:off x="762000" y="2101850"/>
            <a:ext cx="3302000" cy="1905000"/>
          </a:xfrm>
          <a:prstGeom prst="roundRect">
            <a:avLst>
              <a:gd name="adj" fmla="val 8000"/>
            </a:avLst>
          </a:prstGeom>
          <a:solidFill>
            <a:srgbClr val="F8FAFC">
              <a:alpha val="100000"/>
            </a:srgbClr>
          </a:solidFill>
          <a:ln w="12700" cap="flat" cmpd="sng">
            <a:solidFill>
              <a:srgbClr val="E2E8F0">
                <a:alpha val="100000"/>
              </a:srgbClr>
            </a:solidFill>
            <a:prstDash val="solid"/>
            <a:round/>
          </a:ln>
        </p:spPr>
        <p:txBody>
          <a:bodyPr vert="horz" wrap="square" lIns="254000" tIns="254000" rIns="254000" bIns="254000" rtlCol="0" anchor="ctr" anchorCtr="0"/>
          <a:lstStyle/>
          <a:p>
            <a:pPr indent="0" algn="ctr">
              <a:lnSpc>
                <a:spcPct val="125000"/>
              </a:lnSpc>
              <a:defRPr/>
            </a:pPr>
            <a:r>
              <a:rPr lang="en-US" sz="1600" b="1" i="0" u="none" strike="noStrike">
                <a:solidFill>
                  <a:srgbClr val="1E3A8A"/>
                </a:solidFill>
                <a:latin typeface="Noto Sans SC"/>
                <a:ea typeface="Noto Sans SC"/>
                <a:cs typeface="Noto Sans SC"/>
                <a:sym typeface="Noto Sans SC"/>
              </a:rPr>
              <a:t>Prompt 优化</a:t>
            </a:r>
            <a:endParaRPr lang="en-US" sz="1100"/>
          </a:p>
          <a:p>
            <a:pPr indent="0" algn="ctr">
              <a:lnSpc>
                <a:spcPct val="125000"/>
              </a:lnSpc>
            </a:pPr>
            <a:r>
              <a:rPr lang="en-US" sz="1300" b="0" i="0" u="none" strike="noStrike">
                <a:solidFill>
                  <a:srgbClr val="475569"/>
                </a:solidFill>
                <a:latin typeface="Noto Sans SC"/>
                <a:ea typeface="Noto Sans SC"/>
                <a:cs typeface="Noto Sans SC"/>
                <a:sym typeface="Noto Sans SC"/>
              </a:rPr>
              <a:t>加入 null rule，要求 evidence 来自原文。</a:t>
            </a:r>
          </a:p>
        </p:txBody>
      </p:sp>
      <p:sp>
        <p:nvSpPr>
          <p:cNvPr id="6" name="AutoShape 6"/>
          <p:cNvSpPr/>
          <p:nvPr/>
        </p:nvSpPr>
        <p:spPr>
          <a:xfrm>
            <a:off x="4445000" y="2101850"/>
            <a:ext cx="3302000" cy="1905000"/>
          </a:xfrm>
          <a:prstGeom prst="roundRect">
            <a:avLst>
              <a:gd name="adj" fmla="val 8000"/>
            </a:avLst>
          </a:prstGeom>
          <a:solidFill>
            <a:srgbClr val="F8FAFC">
              <a:alpha val="100000"/>
            </a:srgbClr>
          </a:solidFill>
          <a:ln w="12700" cap="flat" cmpd="sng">
            <a:solidFill>
              <a:srgbClr val="E2E8F0">
                <a:alpha val="100000"/>
              </a:srgbClr>
            </a:solidFill>
            <a:prstDash val="solid"/>
            <a:round/>
          </a:ln>
        </p:spPr>
        <p:txBody>
          <a:bodyPr vert="horz" wrap="square" lIns="254000" tIns="254000" rIns="254000" bIns="254000" rtlCol="0" anchor="ctr" anchorCtr="0"/>
          <a:lstStyle/>
          <a:p>
            <a:pPr indent="0" algn="ctr">
              <a:lnSpc>
                <a:spcPct val="125000"/>
              </a:lnSpc>
              <a:defRPr/>
            </a:pPr>
            <a:r>
              <a:rPr lang="en-US" sz="1600" b="1" i="0" u="none" strike="noStrike" dirty="0">
                <a:solidFill>
                  <a:srgbClr val="1E3A8A"/>
                </a:solidFill>
                <a:latin typeface="Noto Sans SC"/>
                <a:ea typeface="Noto Sans SC"/>
                <a:cs typeface="Noto Sans SC"/>
                <a:sym typeface="Noto Sans SC"/>
              </a:rPr>
              <a:t>Schema </a:t>
            </a:r>
            <a:r>
              <a:rPr lang="en-US" sz="1600" b="1" i="0" u="none" strike="noStrike" dirty="0" err="1">
                <a:solidFill>
                  <a:srgbClr val="1E3A8A"/>
                </a:solidFill>
                <a:latin typeface="Noto Sans SC"/>
                <a:ea typeface="Noto Sans SC"/>
                <a:cs typeface="Noto Sans SC"/>
                <a:sym typeface="Noto Sans SC"/>
              </a:rPr>
              <a:t>优化</a:t>
            </a:r>
            <a:endParaRPr lang="en-US" sz="1100" dirty="0"/>
          </a:p>
          <a:p>
            <a:pPr indent="0" algn="ctr">
              <a:lnSpc>
                <a:spcPct val="125000"/>
              </a:lnSpc>
            </a:pPr>
            <a:r>
              <a:rPr lang="en-US" sz="1300" b="0" i="0" u="none" strike="noStrike" dirty="0">
                <a:solidFill>
                  <a:srgbClr val="475569"/>
                </a:solidFill>
                <a:latin typeface="Noto Sans SC"/>
                <a:ea typeface="Noto Sans SC"/>
                <a:cs typeface="Noto Sans SC"/>
                <a:sym typeface="Noto Sans SC"/>
              </a:rPr>
              <a:t>将 </a:t>
            </a:r>
            <a:r>
              <a:rPr lang="en-US" sz="1300" b="0" i="0" u="none" strike="noStrike" dirty="0" err="1">
                <a:solidFill>
                  <a:srgbClr val="475569"/>
                </a:solidFill>
                <a:latin typeface="Noto Sans SC"/>
                <a:ea typeface="Noto Sans SC"/>
                <a:cs typeface="Noto Sans SC"/>
                <a:sym typeface="Noto Sans SC"/>
              </a:rPr>
              <a:t>project_stage</a:t>
            </a:r>
            <a:r>
              <a:rPr lang="en-US" sz="1300" b="0" i="0" u="none" strike="noStrike" dirty="0">
                <a:solidFill>
                  <a:srgbClr val="475569"/>
                </a:solidFill>
                <a:latin typeface="Noto Sans SC"/>
                <a:ea typeface="Noto Sans SC"/>
                <a:cs typeface="Noto Sans SC"/>
                <a:sym typeface="Noto Sans SC"/>
              </a:rPr>
              <a:t> </a:t>
            </a:r>
            <a:r>
              <a:rPr lang="en-US" sz="1300" b="0" i="0" u="none" strike="noStrike" dirty="0" err="1">
                <a:solidFill>
                  <a:srgbClr val="475569"/>
                </a:solidFill>
                <a:latin typeface="Noto Sans SC"/>
                <a:ea typeface="Noto Sans SC"/>
                <a:cs typeface="Noto Sans SC"/>
                <a:sym typeface="Noto Sans SC"/>
              </a:rPr>
              <a:t>设为枚举值，金额字段改为</a:t>
            </a:r>
            <a:r>
              <a:rPr lang="en-US" sz="1300" b="0" i="0" u="none" strike="noStrike" dirty="0">
                <a:solidFill>
                  <a:srgbClr val="475569"/>
                </a:solidFill>
                <a:latin typeface="Noto Sans SC"/>
                <a:ea typeface="Noto Sans SC"/>
                <a:cs typeface="Noto Sans SC"/>
                <a:sym typeface="Noto Sans SC"/>
              </a:rPr>
              <a:t> </a:t>
            </a:r>
            <a:r>
              <a:rPr lang="en-US" sz="1300" b="0" i="0" u="none" strike="noStrike" dirty="0" err="1">
                <a:solidFill>
                  <a:srgbClr val="475569"/>
                </a:solidFill>
                <a:latin typeface="Noto Sans SC"/>
                <a:ea typeface="Noto Sans SC"/>
                <a:cs typeface="Noto Sans SC"/>
                <a:sym typeface="Noto Sans SC"/>
              </a:rPr>
              <a:t>bid_amount_text</a:t>
            </a:r>
            <a:r>
              <a:rPr lang="en-US" sz="1300" b="0" i="0" u="none" strike="noStrike" dirty="0">
                <a:solidFill>
                  <a:srgbClr val="475569"/>
                </a:solidFill>
                <a:latin typeface="Noto Sans SC"/>
                <a:ea typeface="Noto Sans SC"/>
                <a:cs typeface="Noto Sans SC"/>
                <a:sym typeface="Noto Sans SC"/>
              </a:rPr>
              <a:t>。</a:t>
            </a:r>
          </a:p>
        </p:txBody>
      </p:sp>
      <p:sp>
        <p:nvSpPr>
          <p:cNvPr id="7" name="AutoShape 7"/>
          <p:cNvSpPr/>
          <p:nvPr/>
        </p:nvSpPr>
        <p:spPr>
          <a:xfrm>
            <a:off x="8128000" y="2101850"/>
            <a:ext cx="3302000" cy="1905000"/>
          </a:xfrm>
          <a:prstGeom prst="roundRect">
            <a:avLst>
              <a:gd name="adj" fmla="val 8000"/>
            </a:avLst>
          </a:prstGeom>
          <a:solidFill>
            <a:srgbClr val="F8FAFC">
              <a:alpha val="100000"/>
            </a:srgbClr>
          </a:solidFill>
          <a:ln w="12700" cap="flat" cmpd="sng">
            <a:solidFill>
              <a:srgbClr val="E2E8F0">
                <a:alpha val="100000"/>
              </a:srgbClr>
            </a:solidFill>
            <a:prstDash val="solid"/>
            <a:round/>
          </a:ln>
        </p:spPr>
        <p:txBody>
          <a:bodyPr vert="horz" wrap="square" lIns="254000" tIns="254000" rIns="254000" bIns="254000" rtlCol="0" anchor="ctr" anchorCtr="0"/>
          <a:lstStyle/>
          <a:p>
            <a:pPr indent="0" algn="ctr">
              <a:lnSpc>
                <a:spcPct val="125000"/>
              </a:lnSpc>
              <a:defRPr/>
            </a:pPr>
            <a:r>
              <a:rPr lang="en-US" sz="1600" b="1" i="0" u="none" strike="noStrike">
                <a:solidFill>
                  <a:srgbClr val="1E3A8A"/>
                </a:solidFill>
                <a:latin typeface="Noto Sans SC"/>
                <a:ea typeface="Noto Sans SC"/>
                <a:cs typeface="Noto Sans SC"/>
                <a:sym typeface="Noto Sans SC"/>
              </a:rPr>
              <a:t>Section rules 优化</a:t>
            </a:r>
            <a:endParaRPr lang="en-US" sz="1100"/>
          </a:p>
          <a:p>
            <a:pPr indent="0" algn="ctr">
              <a:lnSpc>
                <a:spcPct val="125000"/>
              </a:lnSpc>
            </a:pPr>
            <a:r>
              <a:rPr lang="en-US" sz="1300" b="0" i="0" u="none" strike="noStrike">
                <a:solidFill>
                  <a:srgbClr val="475569"/>
                </a:solidFill>
                <a:latin typeface="Noto Sans SC"/>
                <a:ea typeface="Noto Sans SC"/>
                <a:cs typeface="Noto Sans SC"/>
                <a:sym typeface="Noto Sans SC"/>
              </a:rPr>
              <a:t>增加定位词，排除无关位置。</a:t>
            </a:r>
          </a:p>
        </p:txBody>
      </p:sp>
      <p:sp>
        <p:nvSpPr>
          <p:cNvPr id="8" name="AutoShape 8"/>
          <p:cNvSpPr/>
          <p:nvPr/>
        </p:nvSpPr>
        <p:spPr>
          <a:xfrm>
            <a:off x="2603500" y="4260850"/>
            <a:ext cx="3302000" cy="1651000"/>
          </a:xfrm>
          <a:prstGeom prst="roundRect">
            <a:avLst>
              <a:gd name="adj" fmla="val 9230"/>
            </a:avLst>
          </a:prstGeom>
          <a:solidFill>
            <a:srgbClr val="F8FAFC">
              <a:alpha val="100000"/>
            </a:srgbClr>
          </a:solidFill>
          <a:ln w="12700" cap="flat" cmpd="sng">
            <a:solidFill>
              <a:srgbClr val="E2E8F0">
                <a:alpha val="100000"/>
              </a:srgbClr>
            </a:solidFill>
            <a:prstDash val="solid"/>
            <a:round/>
          </a:ln>
        </p:spPr>
        <p:txBody>
          <a:bodyPr vert="horz" wrap="square" lIns="254000" tIns="228600" rIns="254000" bIns="228600" rtlCol="0" anchor="ctr" anchorCtr="0"/>
          <a:lstStyle/>
          <a:p>
            <a:pPr indent="0" algn="ctr">
              <a:lnSpc>
                <a:spcPct val="125000"/>
              </a:lnSpc>
              <a:defRPr/>
            </a:pPr>
            <a:r>
              <a:rPr lang="en-US" sz="1600" b="1" i="0" u="none" strike="noStrike" dirty="0">
                <a:solidFill>
                  <a:srgbClr val="1E3A8A"/>
                </a:solidFill>
                <a:latin typeface="Noto Sans SC"/>
                <a:ea typeface="Noto Sans SC"/>
                <a:cs typeface="Noto Sans SC"/>
                <a:sym typeface="Noto Sans SC"/>
              </a:rPr>
              <a:t>Workflow </a:t>
            </a:r>
            <a:r>
              <a:rPr lang="en-US" sz="1600" b="1" i="0" u="none" strike="noStrike" dirty="0" err="1">
                <a:solidFill>
                  <a:srgbClr val="1E3A8A"/>
                </a:solidFill>
                <a:latin typeface="Noto Sans SC"/>
                <a:ea typeface="Noto Sans SC"/>
                <a:cs typeface="Noto Sans SC"/>
                <a:sym typeface="Noto Sans SC"/>
              </a:rPr>
              <a:t>优化</a:t>
            </a:r>
            <a:endParaRPr lang="en-US" sz="1100" dirty="0"/>
          </a:p>
          <a:p>
            <a:pPr indent="0" algn="ctr">
              <a:lnSpc>
                <a:spcPct val="125000"/>
              </a:lnSpc>
            </a:pPr>
            <a:r>
              <a:rPr lang="en-US" sz="1300" b="0" i="0" u="none" strike="noStrike" dirty="0" err="1">
                <a:solidFill>
                  <a:srgbClr val="475569"/>
                </a:solidFill>
                <a:latin typeface="Noto Sans SC"/>
                <a:ea typeface="Noto Sans SC"/>
                <a:cs typeface="Noto Sans SC"/>
                <a:sym typeface="Noto Sans SC"/>
              </a:rPr>
              <a:t>补充</a:t>
            </a:r>
            <a:r>
              <a:rPr lang="en-US" sz="1300" b="0" i="0" u="none" strike="noStrike" dirty="0">
                <a:solidFill>
                  <a:srgbClr val="475569"/>
                </a:solidFill>
                <a:latin typeface="Noto Sans SC"/>
                <a:ea typeface="Noto Sans SC"/>
                <a:cs typeface="Noto Sans SC"/>
                <a:sym typeface="Noto Sans SC"/>
              </a:rPr>
              <a:t> metadata </a:t>
            </a:r>
            <a:r>
              <a:rPr lang="en-US" sz="1300" b="0" i="0" u="none" strike="noStrike" dirty="0" err="1">
                <a:solidFill>
                  <a:srgbClr val="475569"/>
                </a:solidFill>
                <a:latin typeface="Noto Sans SC"/>
                <a:ea typeface="Noto Sans SC"/>
                <a:cs typeface="Noto Sans SC"/>
                <a:sym typeface="Noto Sans SC"/>
              </a:rPr>
              <a:t>审计、下载状态检查和统一日志</a:t>
            </a:r>
            <a:r>
              <a:rPr lang="en-US" sz="1300" b="0" i="0" u="none" strike="noStrike" dirty="0">
                <a:solidFill>
                  <a:srgbClr val="475569"/>
                </a:solidFill>
                <a:latin typeface="Noto Sans SC"/>
                <a:ea typeface="Noto Sans SC"/>
                <a:cs typeface="Noto Sans SC"/>
                <a:sym typeface="Noto Sans SC"/>
              </a:rPr>
              <a:t>。</a:t>
            </a:r>
          </a:p>
        </p:txBody>
      </p:sp>
      <p:sp>
        <p:nvSpPr>
          <p:cNvPr id="9" name="AutoShape 9"/>
          <p:cNvSpPr/>
          <p:nvPr/>
        </p:nvSpPr>
        <p:spPr>
          <a:xfrm>
            <a:off x="6286500" y="4260850"/>
            <a:ext cx="3302000" cy="1651000"/>
          </a:xfrm>
          <a:prstGeom prst="roundRect">
            <a:avLst>
              <a:gd name="adj" fmla="val 9230"/>
            </a:avLst>
          </a:prstGeom>
          <a:solidFill>
            <a:srgbClr val="F8FAFC">
              <a:alpha val="100000"/>
            </a:srgbClr>
          </a:solidFill>
          <a:ln w="12700" cap="flat" cmpd="sng">
            <a:solidFill>
              <a:srgbClr val="E2E8F0">
                <a:alpha val="100000"/>
              </a:srgbClr>
            </a:solidFill>
            <a:prstDash val="solid"/>
            <a:round/>
          </a:ln>
        </p:spPr>
        <p:txBody>
          <a:bodyPr vert="horz" wrap="square" lIns="254000" tIns="228600" rIns="254000" bIns="228600" rtlCol="0" anchor="ctr" anchorCtr="0"/>
          <a:lstStyle/>
          <a:p>
            <a:pPr indent="0" algn="ctr">
              <a:lnSpc>
                <a:spcPct val="125000"/>
              </a:lnSpc>
              <a:defRPr/>
            </a:pPr>
            <a:r>
              <a:rPr lang="en-US" sz="1600" b="1" i="0" u="none" strike="noStrike">
                <a:solidFill>
                  <a:srgbClr val="1E3A8A"/>
                </a:solidFill>
                <a:latin typeface="Noto Sans SC"/>
                <a:ea typeface="Noto Sans SC"/>
                <a:cs typeface="Noto Sans SC"/>
                <a:sym typeface="Noto Sans SC"/>
              </a:rPr>
              <a:t>优化逻辑</a:t>
            </a:r>
            <a:endParaRPr lang="en-US" sz="1100"/>
          </a:p>
          <a:p>
            <a:pPr indent="0" algn="ctr">
              <a:lnSpc>
                <a:spcPct val="125000"/>
              </a:lnSpc>
            </a:pPr>
            <a:r>
              <a:rPr lang="en-US" sz="1300" b="0" i="0" u="none" strike="noStrike">
                <a:solidFill>
                  <a:srgbClr val="475569"/>
                </a:solidFill>
                <a:latin typeface="Noto Sans SC"/>
                <a:ea typeface="Noto Sans SC"/>
                <a:cs typeface="Noto Sans SC"/>
                <a:sym typeface="Noto Sans SC"/>
              </a:rPr>
              <a:t>针对错误来源，在 prompt、schema 等层面进行精细化调整。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AFC">
              <a:alpha val="92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dirty="0">
                <a:solidFill>
                  <a:srgbClr val="1A202C"/>
                </a:solidFill>
                <a:latin typeface="Noto Sans SC"/>
                <a:ea typeface="Noto Sans SC"/>
                <a:cs typeface="Noto Sans SC"/>
                <a:sym typeface="Noto Sans SC"/>
              </a:rPr>
              <a:t>10 Vibe Coding </a:t>
            </a:r>
            <a:r>
              <a:rPr lang="en-US" sz="3200" b="1" i="0" u="none" strike="noStrike" dirty="0" err="1">
                <a:solidFill>
                  <a:srgbClr val="1A202C"/>
                </a:solidFill>
                <a:latin typeface="Noto Sans SC"/>
                <a:ea typeface="Noto Sans SC"/>
                <a:cs typeface="Noto Sans SC"/>
                <a:sym typeface="Noto Sans SC"/>
              </a:rPr>
              <a:t>反思</a:t>
            </a:r>
            <a:endParaRPr lang="en-US" sz="1100" dirty="0"/>
          </a:p>
        </p:txBody>
      </p:sp>
      <p:sp>
        <p:nvSpPr>
          <p:cNvPr id="5" name="AutoShape 5"/>
          <p:cNvSpPr/>
          <p:nvPr/>
        </p:nvSpPr>
        <p:spPr>
          <a:xfrm>
            <a:off x="914400" y="2413000"/>
            <a:ext cx="5080000" cy="1270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203200" tIns="152400" rIns="203200" bIns="152400" rtlCol="0" anchor="ctr" anchorCtr="0"/>
          <a:lstStyle/>
          <a:p>
            <a:pPr indent="0" algn="ctr">
              <a:lnSpc>
                <a:spcPct val="125000"/>
              </a:lnSpc>
              <a:defRPr/>
            </a:pPr>
            <a:r>
              <a:rPr lang="en-US" sz="1600" b="1" i="0" u="none" strike="noStrike" dirty="0">
                <a:solidFill>
                  <a:srgbClr val="2D3748"/>
                </a:solidFill>
                <a:latin typeface="Noto Sans SC"/>
                <a:ea typeface="Noto Sans SC"/>
                <a:cs typeface="Noto Sans SC"/>
                <a:sym typeface="Noto Sans SC"/>
              </a:rPr>
              <a:t>AI </a:t>
            </a:r>
            <a:r>
              <a:rPr lang="en-US" sz="1600" b="1" i="0" u="none" strike="noStrike" dirty="0" err="1">
                <a:solidFill>
                  <a:srgbClr val="2D3748"/>
                </a:solidFill>
                <a:latin typeface="Noto Sans SC"/>
                <a:ea typeface="Noto Sans SC"/>
                <a:cs typeface="Noto Sans SC"/>
                <a:sym typeface="Noto Sans SC"/>
              </a:rPr>
              <a:t>帮助</a:t>
            </a:r>
            <a:endParaRPr lang="en-US" sz="1100" dirty="0"/>
          </a:p>
          <a:p>
            <a:pPr indent="0" algn="ctr">
              <a:lnSpc>
                <a:spcPct val="125000"/>
              </a:lnSpc>
            </a:pPr>
            <a:r>
              <a:rPr lang="en-US" sz="1300" b="0" i="0" u="none" strike="noStrike" dirty="0" err="1">
                <a:solidFill>
                  <a:srgbClr val="4A5568"/>
                </a:solidFill>
                <a:latin typeface="Noto Sans SC"/>
                <a:ea typeface="Noto Sans SC"/>
                <a:cs typeface="Noto Sans SC"/>
                <a:sym typeface="Noto Sans SC"/>
              </a:rPr>
              <a:t>生成抓取脚本、README、workflow、schema、slides初稿等，提高项目搭建速度</a:t>
            </a:r>
            <a:r>
              <a:rPr lang="en-US" sz="1300" b="0" i="0" u="none" strike="noStrike" dirty="0">
                <a:solidFill>
                  <a:srgbClr val="4A5568"/>
                </a:solidFill>
                <a:latin typeface="Noto Sans SC"/>
                <a:ea typeface="Noto Sans SC"/>
                <a:cs typeface="Noto Sans SC"/>
                <a:sym typeface="Noto Sans SC"/>
              </a:rPr>
              <a:t>。</a:t>
            </a:r>
          </a:p>
        </p:txBody>
      </p:sp>
      <p:sp>
        <p:nvSpPr>
          <p:cNvPr id="6" name="AutoShape 6"/>
          <p:cNvSpPr/>
          <p:nvPr/>
        </p:nvSpPr>
        <p:spPr>
          <a:xfrm>
            <a:off x="6248400" y="2413000"/>
            <a:ext cx="5080000" cy="1270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203200" tIns="152400" rIns="203200" bIns="152400" rtlCol="0" anchor="ctr" anchorCtr="0"/>
          <a:lstStyle/>
          <a:p>
            <a:pPr indent="0" algn="ctr">
              <a:lnSpc>
                <a:spcPct val="125000"/>
              </a:lnSpc>
              <a:defRPr/>
            </a:pPr>
            <a:r>
              <a:rPr lang="zh-CN" altLang="en-US" sz="1600" b="1" dirty="0">
                <a:solidFill>
                  <a:srgbClr val="2D3748"/>
                </a:solidFill>
                <a:latin typeface="Noto Sans SC"/>
                <a:ea typeface="Noto Sans SC"/>
                <a:cs typeface="Noto Sans SC"/>
                <a:sym typeface="Noto Sans SC"/>
              </a:rPr>
              <a:t>人工</a:t>
            </a:r>
            <a:r>
              <a:rPr lang="en-US" sz="1600" b="1" i="0" u="none" strike="noStrike" dirty="0" err="1">
                <a:solidFill>
                  <a:srgbClr val="2D3748"/>
                </a:solidFill>
                <a:latin typeface="Noto Sans SC"/>
                <a:ea typeface="Noto Sans SC"/>
                <a:cs typeface="Noto Sans SC"/>
                <a:sym typeface="Noto Sans SC"/>
              </a:rPr>
              <a:t>负责</a:t>
            </a:r>
            <a:endParaRPr lang="en-US" sz="1100" dirty="0"/>
          </a:p>
          <a:p>
            <a:pPr indent="0" algn="ctr">
              <a:lnSpc>
                <a:spcPct val="125000"/>
              </a:lnSpc>
            </a:pPr>
            <a:r>
              <a:rPr lang="en-US" sz="1300" b="0" i="0" u="none" strike="noStrike" dirty="0" err="1">
                <a:solidFill>
                  <a:srgbClr val="4A5568"/>
                </a:solidFill>
                <a:latin typeface="Noto Sans SC"/>
                <a:ea typeface="Noto Sans SC"/>
                <a:cs typeface="Noto Sans SC"/>
                <a:sym typeface="Noto Sans SC"/>
              </a:rPr>
              <a:t>定义金融问题、筛选样本、检查PDF与metadata对应关系、核对evidence</a:t>
            </a:r>
            <a:r>
              <a:rPr lang="en-US" sz="1300" b="0" i="0" u="none" strike="noStrike" dirty="0">
                <a:solidFill>
                  <a:srgbClr val="4A5568"/>
                </a:solidFill>
                <a:latin typeface="Noto Sans SC"/>
                <a:ea typeface="Noto Sans SC"/>
                <a:cs typeface="Noto Sans SC"/>
                <a:sym typeface="Noto Sans SC"/>
              </a:rPr>
              <a:t>。</a:t>
            </a:r>
          </a:p>
        </p:txBody>
      </p:sp>
      <p:sp>
        <p:nvSpPr>
          <p:cNvPr id="7" name="AutoShape 7"/>
          <p:cNvSpPr/>
          <p:nvPr/>
        </p:nvSpPr>
        <p:spPr>
          <a:xfrm>
            <a:off x="914400" y="3873500"/>
            <a:ext cx="5080000" cy="1143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203200" tIns="152400" rIns="203200" bIns="152400" rtlCol="0" anchor="ctr" anchorCtr="0"/>
          <a:lstStyle/>
          <a:p>
            <a:pPr indent="0" algn="ctr">
              <a:lnSpc>
                <a:spcPct val="125000"/>
              </a:lnSpc>
              <a:defRPr/>
            </a:pPr>
            <a:r>
              <a:rPr lang="en-US" sz="1600" b="1" i="0" u="none" strike="noStrike">
                <a:solidFill>
                  <a:srgbClr val="2D3748"/>
                </a:solidFill>
                <a:latin typeface="Noto Sans SC"/>
                <a:ea typeface="Noto Sans SC"/>
                <a:cs typeface="Noto Sans SC"/>
                <a:sym typeface="Noto Sans SC"/>
              </a:rPr>
              <a:t>核心原则</a:t>
            </a:r>
            <a:endParaRPr lang="en-US" sz="1100"/>
          </a:p>
          <a:p>
            <a:pPr indent="0" algn="ctr">
              <a:lnSpc>
                <a:spcPct val="125000"/>
              </a:lnSpc>
            </a:pPr>
            <a:r>
              <a:rPr lang="en-US" sz="1300" b="0" i="0" u="none" strike="noStrike">
                <a:solidFill>
                  <a:srgbClr val="4A5568"/>
                </a:solidFill>
                <a:latin typeface="Noto Sans SC"/>
                <a:ea typeface="Noto Sans SC"/>
                <a:cs typeface="Noto Sans SC"/>
                <a:sym typeface="Noto Sans SC"/>
              </a:rPr>
              <a:t>不把AI输出当作最终事实，要求关键字段能回到PDF原文。</a:t>
            </a:r>
          </a:p>
        </p:txBody>
      </p:sp>
      <p:sp>
        <p:nvSpPr>
          <p:cNvPr id="8" name="AutoShape 8"/>
          <p:cNvSpPr/>
          <p:nvPr/>
        </p:nvSpPr>
        <p:spPr>
          <a:xfrm>
            <a:off x="6248400" y="3873500"/>
            <a:ext cx="5080000" cy="1143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203200" tIns="152400" rIns="203200" bIns="152400" rtlCol="0" anchor="ctr" anchorCtr="0"/>
          <a:lstStyle/>
          <a:p>
            <a:pPr indent="0" algn="ctr">
              <a:lnSpc>
                <a:spcPct val="125000"/>
              </a:lnSpc>
              <a:defRPr/>
            </a:pPr>
            <a:r>
              <a:rPr lang="en-US" sz="1600" b="1" i="0" u="none" strike="noStrike" dirty="0" err="1">
                <a:solidFill>
                  <a:srgbClr val="2D3748"/>
                </a:solidFill>
                <a:latin typeface="Noto Sans SC"/>
                <a:ea typeface="Noto Sans SC"/>
                <a:cs typeface="Noto Sans SC"/>
                <a:sym typeface="Noto Sans SC"/>
              </a:rPr>
              <a:t>关键经验</a:t>
            </a:r>
            <a:endParaRPr lang="en-US" sz="1100" dirty="0"/>
          </a:p>
          <a:p>
            <a:pPr indent="0" algn="ctr">
              <a:lnSpc>
                <a:spcPct val="125000"/>
              </a:lnSpc>
            </a:pPr>
            <a:r>
              <a:rPr lang="en-US" sz="1300" b="0" i="0" u="none" strike="noStrike" dirty="0" err="1">
                <a:solidFill>
                  <a:srgbClr val="4A5568"/>
                </a:solidFill>
                <a:latin typeface="Noto Sans SC"/>
                <a:ea typeface="Noto Sans SC"/>
                <a:cs typeface="Noto Sans SC"/>
                <a:sym typeface="Noto Sans SC"/>
              </a:rPr>
              <a:t>受控Vibe</a:t>
            </a:r>
            <a:r>
              <a:rPr lang="en-US" sz="1300" b="0" i="0" u="none" strike="noStrike" dirty="0">
                <a:solidFill>
                  <a:srgbClr val="4A5568"/>
                </a:solidFill>
                <a:latin typeface="Noto Sans SC"/>
                <a:ea typeface="Noto Sans SC"/>
                <a:cs typeface="Noto Sans SC"/>
                <a:sym typeface="Noto Sans SC"/>
              </a:rPr>
              <a:t> </a:t>
            </a:r>
            <a:r>
              <a:rPr lang="en-US" sz="1300" b="0" i="0" u="none" strike="noStrike" dirty="0" err="1">
                <a:solidFill>
                  <a:srgbClr val="4A5568"/>
                </a:solidFill>
                <a:latin typeface="Noto Sans SC"/>
                <a:ea typeface="Noto Sans SC"/>
                <a:cs typeface="Noto Sans SC"/>
                <a:sym typeface="Noto Sans SC"/>
              </a:rPr>
              <a:t>Coding的关键是</a:t>
            </a:r>
            <a:r>
              <a:rPr lang="zh-CN" altLang="en-US" sz="1300" b="0" i="0" u="none" strike="noStrike">
                <a:solidFill>
                  <a:srgbClr val="4A5568"/>
                </a:solidFill>
                <a:latin typeface="Noto Sans SC"/>
                <a:ea typeface="Noto Sans SC"/>
                <a:cs typeface="Noto Sans SC"/>
                <a:sym typeface="Noto Sans SC"/>
              </a:rPr>
              <a:t>人工</a:t>
            </a:r>
            <a:r>
              <a:rPr lang="en-US" sz="1300" b="0" i="0" u="none" strike="noStrike">
                <a:solidFill>
                  <a:srgbClr val="4A5568"/>
                </a:solidFill>
                <a:latin typeface="Noto Sans SC"/>
                <a:ea typeface="Noto Sans SC"/>
                <a:cs typeface="Noto Sans SC"/>
                <a:sym typeface="Noto Sans SC"/>
              </a:rPr>
              <a:t>能否验证</a:t>
            </a:r>
            <a:r>
              <a:rPr lang="en-US" sz="1300" b="0" i="0" u="none" strike="noStrike" dirty="0" err="1">
                <a:solidFill>
                  <a:srgbClr val="4A5568"/>
                </a:solidFill>
                <a:latin typeface="Noto Sans SC"/>
                <a:ea typeface="Noto Sans SC"/>
                <a:cs typeface="Noto Sans SC"/>
                <a:sym typeface="Noto Sans SC"/>
              </a:rPr>
              <a:t>、修正并解释证据链</a:t>
            </a:r>
            <a:r>
              <a:rPr lang="en-US" sz="1300" b="0" i="0" u="none" strike="noStrike" dirty="0">
                <a:solidFill>
                  <a:srgbClr val="4A5568"/>
                </a:solidFill>
                <a:latin typeface="Noto Sans SC"/>
                <a:ea typeface="Noto Sans SC"/>
                <a:cs typeface="Noto Sans SC"/>
                <a:sym typeface="Noto Sans SC"/>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59342-DF5F-8F1D-7AB2-171A7538D06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A4F2CF5-1FDC-F5AD-7F12-930E0BEDB10C}"/>
              </a:ext>
            </a:extLst>
          </p:cNvPr>
          <p:cNvSpPr/>
          <p:nvPr/>
        </p:nvSpPr>
        <p:spPr>
          <a:xfrm>
            <a:off x="0" y="0"/>
            <a:ext cx="12192000" cy="6858000"/>
          </a:xfrm>
          <a:prstGeom prst="roundRect">
            <a:avLst>
              <a:gd name="adj" fmla="val 0"/>
            </a:avLst>
          </a:prstGeom>
          <a:solidFill>
            <a:srgbClr val="F7FAFC">
              <a:alpha val="92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3">
            <a:extLst>
              <a:ext uri="{FF2B5EF4-FFF2-40B4-BE49-F238E27FC236}">
                <a16:creationId xmlns:a16="http://schemas.microsoft.com/office/drawing/2014/main" id="{21DA65EB-891D-35BF-A463-7F1EA2BD94E5}"/>
              </a:ext>
            </a:extLst>
          </p:cNvPr>
          <p:cNvSpPr/>
          <p:nvPr/>
        </p:nvSpPr>
        <p:spPr>
          <a:xfrm>
            <a:off x="1103086" y="1879600"/>
            <a:ext cx="7620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400" b="1" i="0" u="none" strike="noStrike" dirty="0">
                <a:solidFill>
                  <a:schemeClr val="tx1"/>
                </a:solidFill>
                <a:latin typeface="Noto Sans SC"/>
                <a:ea typeface="Noto Sans SC"/>
                <a:cs typeface="Noto Sans SC"/>
                <a:sym typeface="Noto Sans SC"/>
              </a:rPr>
              <a:t>Q&amp;A</a:t>
            </a:r>
            <a:endParaRPr lang="en-US" sz="1100" dirty="0">
              <a:solidFill>
                <a:schemeClr val="tx1"/>
              </a:solidFill>
            </a:endParaRPr>
          </a:p>
        </p:txBody>
      </p:sp>
      <p:sp>
        <p:nvSpPr>
          <p:cNvPr id="9" name="AutoShape 4">
            <a:extLst>
              <a:ext uri="{FF2B5EF4-FFF2-40B4-BE49-F238E27FC236}">
                <a16:creationId xmlns:a16="http://schemas.microsoft.com/office/drawing/2014/main" id="{F44053C4-3482-20DC-EB69-70E6438633A3}"/>
              </a:ext>
            </a:extLst>
          </p:cNvPr>
          <p:cNvSpPr/>
          <p:nvPr/>
        </p:nvSpPr>
        <p:spPr>
          <a:xfrm>
            <a:off x="1153886" y="3403600"/>
            <a:ext cx="2032000" cy="76200"/>
          </a:xfrm>
          <a:prstGeom prst="roundRect">
            <a:avLst>
              <a:gd name="adj" fmla="val 0"/>
            </a:avLst>
          </a:prstGeom>
          <a:solidFill>
            <a:srgbClr val="4FD1C5">
              <a:alpha val="100000"/>
            </a:srgbClr>
          </a:solidFill>
          <a:ln w="25400" cap="flat" cmpd="sng">
            <a:noFill/>
            <a:prstDash val="solid"/>
            <a:round/>
          </a:ln>
        </p:spPr>
        <p:txBody>
          <a:bodyPr vert="horz" wrap="square" lIns="0" tIns="0" rIns="0" bIns="0" rtlCol="0" anchor="ctr" anchorCtr="0"/>
          <a:lstStyle/>
          <a:p>
            <a:pPr algn="ctr">
              <a:defRPr/>
            </a:pPr>
            <a:endParaRPr/>
          </a:p>
        </p:txBody>
      </p:sp>
    </p:spTree>
    <p:extLst>
      <p:ext uri="{BB962C8B-B14F-4D97-AF65-F5344CB8AC3E}">
        <p14:creationId xmlns:p14="http://schemas.microsoft.com/office/powerpoint/2010/main" val="2284504715"/>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2510</Words>
  <Application>Microsoft Office PowerPoint</Application>
  <PresentationFormat>宽屏</PresentationFormat>
  <Paragraphs>221</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17</vt:i4>
      </vt:variant>
    </vt:vector>
  </HeadingPairs>
  <TitlesOfParts>
    <vt:vector size="22" baseType="lpstr">
      <vt:lpstr>JetBrains Mono</vt: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立香 藤丸</cp:lastModifiedBy>
  <cp:revision>7</cp:revision>
  <dcterms:modified xsi:type="dcterms:W3CDTF">2026-06-15T02:56:30Z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{"Label":"1","ContentProducer":"001191110102MACQD9K64010000","ProduceID":"7651178951717342178","ReservedCode1":"","ContentPropagator":"","PropagateID":"","ReservedCode2":""}</vt:lpwstr>
  </property>
</Properties>
</file>